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notesSlides/notesSlide4.xml" ContentType="application/vnd.openxmlformats-officedocument.presentationml.notesSlide+xml"/>
  <Override PartName="/ppt/tags/tag4.xml" ContentType="application/vnd.openxmlformats-officedocument.presentationml.tags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notesSlides/notesSlide6.xml" ContentType="application/vnd.openxmlformats-officedocument.presentationml.notesSlide+xml"/>
  <Override PartName="/ppt/tags/tag6.xml" ContentType="application/vnd.openxmlformats-officedocument.presentationml.tags+xml"/>
  <Override PartName="/ppt/notesSlides/notesSlide7.xml" ContentType="application/vnd.openxmlformats-officedocument.presentationml.notesSlide+xml"/>
  <Override PartName="/ppt/tags/tag7.xml" ContentType="application/vnd.openxmlformats-officedocument.presentationml.tags+xml"/>
  <Override PartName="/ppt/notesSlides/notesSlide8.xml" ContentType="application/vnd.openxmlformats-officedocument.presentationml.notesSlide+xml"/>
  <Override PartName="/ppt/tags/tag8.xml" ContentType="application/vnd.openxmlformats-officedocument.presentationml.tags+xml"/>
  <Override PartName="/ppt/notesSlides/notesSlide9.xml" ContentType="application/vnd.openxmlformats-officedocument.presentationml.notesSlide+xml"/>
  <Override PartName="/ppt/tags/tag9.xml" ContentType="application/vnd.openxmlformats-officedocument.presentationml.tags+xml"/>
  <Override PartName="/ppt/notesSlides/notesSlide10.xml" ContentType="application/vnd.openxmlformats-officedocument.presentationml.notesSlide+xml"/>
  <Override PartName="/ppt/tags/tag10.xml" ContentType="application/vnd.openxmlformats-officedocument.presentationml.tags+xml"/>
  <Override PartName="/ppt/notesSlides/notesSlide11.xml" ContentType="application/vnd.openxmlformats-officedocument.presentationml.notesSlide+xml"/>
  <Override PartName="/ppt/tags/tag11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12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</p:sldMasterIdLst>
  <p:notesMasterIdLst>
    <p:notesMasterId r:id="rId22"/>
  </p:notesMasterIdLst>
  <p:sldIdLst>
    <p:sldId id="256" r:id="rId2"/>
    <p:sldId id="262" r:id="rId3"/>
    <p:sldId id="265" r:id="rId4"/>
    <p:sldId id="257" r:id="rId5"/>
    <p:sldId id="270" r:id="rId6"/>
    <p:sldId id="267" r:id="rId7"/>
    <p:sldId id="275" r:id="rId8"/>
    <p:sldId id="276" r:id="rId9"/>
    <p:sldId id="260" r:id="rId10"/>
    <p:sldId id="266" r:id="rId11"/>
    <p:sldId id="273" r:id="rId12"/>
    <p:sldId id="272" r:id="rId13"/>
    <p:sldId id="274" r:id="rId14"/>
    <p:sldId id="263" r:id="rId15"/>
    <p:sldId id="259" r:id="rId16"/>
    <p:sldId id="268" r:id="rId17"/>
    <p:sldId id="271" r:id="rId18"/>
    <p:sldId id="269" r:id="rId19"/>
    <p:sldId id="277" r:id="rId20"/>
    <p:sldId id="27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2671BDB-F464-0F48-93DD-03054374103C}">
          <p14:sldIdLst>
            <p14:sldId id="256"/>
            <p14:sldId id="262"/>
            <p14:sldId id="265"/>
            <p14:sldId id="257"/>
            <p14:sldId id="270"/>
            <p14:sldId id="267"/>
            <p14:sldId id="275"/>
            <p14:sldId id="276"/>
            <p14:sldId id="260"/>
            <p14:sldId id="266"/>
          </p14:sldIdLst>
        </p14:section>
        <p14:section name="Appendix" id="{CC5CF159-B9AE-8249-86FA-7D0E49288067}">
          <p14:sldIdLst>
            <p14:sldId id="273"/>
            <p14:sldId id="272"/>
            <p14:sldId id="274"/>
            <p14:sldId id="263"/>
            <p14:sldId id="259"/>
            <p14:sldId id="268"/>
            <p14:sldId id="271"/>
            <p14:sldId id="269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A500"/>
    <a:srgbClr val="2C7E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21"/>
    <p:restoredTop sz="65598"/>
  </p:normalViewPr>
  <p:slideViewPr>
    <p:cSldViewPr snapToGrid="0">
      <p:cViewPr varScale="1">
        <p:scale>
          <a:sx n="132" d="100"/>
          <a:sy n="132" d="100"/>
        </p:scale>
        <p:origin x="3224" y="176"/>
      </p:cViewPr>
      <p:guideLst/>
    </p:cSldViewPr>
  </p:slideViewPr>
  <p:notesTextViewPr>
    <p:cViewPr>
      <p:scale>
        <a:sx n="140" d="100"/>
        <a:sy n="14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5" d="100"/>
          <a:sy n="155" d="100"/>
        </p:scale>
        <p:origin x="684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1D6AB2-D519-5E47-80FC-107ADA150C1A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B21CBD-D301-674F-94E8-EF9AD1ED13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729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my capstone project:</a:t>
            </a:r>
          </a:p>
          <a:p>
            <a:r>
              <a:rPr lang="en-US" dirty="0"/>
              <a:t>Hotel Cancellation Forecast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267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Have you ever wondered how managing a hotel works?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You might think they just need to sell as many rooms as possible every day..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 What if they sell too many or what if they don’t sell them all?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Consider this… 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 hotel has limited perishable inventory.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Unlike in other industries such as retail, inventory cannot be carried over the next day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Any rooms that are left unsold is lost revenue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 why would they oversell more than they have?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Well, have you ever booked a hotel, but at some point your plans changed?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Hotels need to account for that, so they sometimes sell more rooms than they have left.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they are just reactive to a cancellation, they risk having unsold rooms left.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But...what if they end the day oversold?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Guests get refunded and depending on the hotel’s policy: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They have to pay for a “comparable” hotel room,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transportation costs,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risk damaging their reputation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81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a hotel can accurately predict the final number of guests for each day, 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it allows them to maximize revenue and help operations teams staff their hotel properly.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is part of Revenue Management</a:t>
            </a:r>
            <a:endParaRPr lang="en-US" sz="18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sz="18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One key 'metric of success' revenue managers have, is reaching a “perfect sell”.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means not finishing the day with any rooms unsold.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One of the biggest contributors to reaching a perfect sell, are room cancellations.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We can utilize ML models to predict if a reservation will cancellation based on patterns from historical data.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ultimate goal is to predict hotel cancellations accurately in a variety of scenarios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Not all hotels are the same, so it’s important that the model can perform reliably with different hotels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	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66411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&lt;CLICK&gt;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my dataset, some important columns surfaced, but my main focus was 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Is canceled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&lt;CLICK&gt;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There was a minor target imbalance in my data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as there were over 119,000 reservations,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but of those, only 44,000 Reservation cancelled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924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4C245-C7CA-AB03-0603-700460F7C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60B0EF-57B1-28CB-CB02-FFC98616EA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201AC-506E-AC88-FEB4-DBCA2EB21C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dirty="0"/>
              <a:t>&lt;CLICK&gt;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At first, I ignored that class imbalance…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therefore, in my earlier iterations of my models, I discovered some overfitting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My models were too perfect...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My train accuracy and precision scores were nearly 100%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&lt;CLICK&gt;</a:t>
            </a:r>
          </a:p>
          <a:p>
            <a:pPr marL="285750" lvl="0" indent="-285750" rtl="0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 through my exploration of fixing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overfitting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 corrected the Imbalanced target class using SMOTE</a:t>
            </a:r>
          </a:p>
          <a:p>
            <a:pPr marL="1200150" lvl="2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generated artificial samples of cancelled reservations</a:t>
            </a:r>
          </a:p>
          <a:p>
            <a:pPr marL="1200150" lvl="2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basically helps the model not be biased towards the data it's being trained on. 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But that still </a:t>
            </a:r>
            <a:r>
              <a:rPr lang="en-US" sz="18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wasnt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enough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endParaRPr lang="en-US" b="0" dirty="0">
              <a:effectLst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dirty="0"/>
              <a:t>&lt;CLICK&gt;</a:t>
            </a:r>
          </a:p>
          <a:p>
            <a:pPr marL="285750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Eventually I uncovered a feature called 'Reservation Status' that was causing the overfitting and data leakage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column indicates if a reservation ultimately was Canceled, Checkout, or No Showed</a:t>
            </a:r>
          </a:p>
          <a:p>
            <a:pPr marL="742950" lvl="1" indent="-285750" rtl="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Essentially, it’s my target variable’s sidekick...and it needed to go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3DB4D-26D0-F096-1D41-3B1EC26E6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64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39F0F-5FE3-20D7-10A6-F4BB2D2F5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1D861-034D-43DA-DEB6-7FE58F8AC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C7AD8E-0D92-D889-7FFA-45C63D0E7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After addressing the leak and imbalances, I ultimately narrowed my models down to two:</a:t>
            </a: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Random Forest and </a:t>
            </a:r>
            <a:r>
              <a:rPr lang="en-US" sz="16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XGBoost</a:t>
            </a:r>
            <a:endParaRPr lang="en-US" sz="16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When comparing the two, I found that the overall test metrics for the </a:t>
            </a:r>
            <a:r>
              <a:rPr lang="en-US" sz="16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XGBoost</a:t>
            </a: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model were better across the board.</a:t>
            </a:r>
          </a:p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0" marR="0" lvl="0" indent="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However, when I evaluated further, I found that the </a:t>
            </a:r>
            <a:r>
              <a:rPr lang="en-US" sz="1600" b="0" dirty="0" err="1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XGBoost</a:t>
            </a: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model was more overfitted</a:t>
            </a: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And remembering the goal was to have a model that can perform </a:t>
            </a:r>
            <a:r>
              <a:rPr lang="en-US" sz="2800" dirty="0"/>
              <a:t>accurately in a variety of scenarios.</a:t>
            </a: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 decided that the random forest model was the better choice</a:t>
            </a: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8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having less overfitted model, means that I'll have a more dependable performance across diverse datasets</a:t>
            </a:r>
          </a:p>
          <a:p>
            <a:pPr marL="285750" marR="0" lvl="0" indent="-2857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6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89507-DA7A-9969-9637-D6C38F10B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306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6840B-C65A-20CB-7243-371028D09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06D99-A84B-5DA9-F42A-5BA96647B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63FCC7-6D7F-9BE5-3F85-CBC910EF0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After selecting my model, 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 explored the features that contributed the most to the model’s performance using permutation feature importance</a:t>
            </a:r>
          </a:p>
          <a:p>
            <a:pPr marL="171450" marR="0" lvl="0" indent="-1714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How this work is that each feature is taken out of the model one at a time</a:t>
            </a:r>
          </a:p>
          <a:p>
            <a:pPr marL="628650" marR="0" lvl="1" indent="-1714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 model is evaluated both before and after that feature is taken out</a:t>
            </a:r>
          </a:p>
          <a:p>
            <a:pPr marL="628650" marR="0" lvl="1" indent="-1714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And the worse the model performs after a feature is taken out, determines how important it is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To my surprise, the most important feature in my Random Forest model was Total Special Requests 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It had an importance over 20%. 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 Travel Agent/Tour Operator Market segment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No Deposit, 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and Lead time followed with importances over 10%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24002-FFDA-E10B-6BCB-BB212369A0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183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A4F40-4B6F-84D4-41F0-32903BD67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17EFE-0D56-1FC1-3F1D-833599591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6D239-04FD-D813-2C5C-55A991262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Lastly, by using a confusion matrix, I was able to explore errors in my model.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For example: where it incorrectly predicted a reservation to cancel when it actually did not.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When looking at the distributions of the True Positives vs False Positives for the ‘Lead Time’ Feature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628650" marR="0" lvl="1" indent="-171450" algn="l" defTabSz="914400" rtl="0" eaLnBrk="1" fontAlgn="auto" latinLnBrk="0" hangingPunct="1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You can see that the mean of the True Positives are above 100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whereas the mean for False Positives are below 100. 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This suggests that the model struggles with reservations that have shorter lead times (&lt;100 days). </a:t>
            </a: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And it indicates that the Lead Time impact the model’s ability to distinguish True positives from False positives.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749F3-3531-F6DD-B908-1C33C24806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462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for my next steps: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 want to explore and identify other features that my model struggles with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since my model appears to struggle with False Positives for shorter lead times,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 want to explore feature engineering by binning the lead time into buckets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with the goal of helping the model better learn patterns for short lead times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 also want to Explore Time Series Forecasting with Demand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With the goal to ultimately provide a well rounded prediction model for daily total hotel occupancy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8050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C7B2F-8705-5A5E-DE6F-C08E8D127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EC165-78FF-CD2B-A57D-72A5C6A5A4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CFA1E4-E298-A467-CD79-824568875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 two classification models I’ve run on this dataset were Logistic Regression and Random Forest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 The Logistic Regression model outperformed Random Forest in all metrics (see the green)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 There are a lot of metrics here, and they’re all important like the Test score and AUC Scores, but I want to focus on a metric that is more important to the business.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 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That's the f1-score </a:t>
            </a:r>
            <a:endParaRPr lang="en-US" sz="1200" b="1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F1 score </a:t>
            </a:r>
            <a:r>
              <a:rPr lang="en-US" sz="12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is the balance between Precision and Recall and the two generally have a see-saw relationship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To help understand this, lets look at the Logistic Regression model numbers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Precision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Out of all the reservations the model said were going to cancel, 100% of them actually cancelled (Note this value was rounded).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Recall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Out of all the cancelled reservations, the model was able to correctly identify 87% of them.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1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So, which is more important, Precision or Recall?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What happens with Lower Precision: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we incorrectly predict a reservation will cancel, we may end up selling that room again in anticipation of that first guest not showing up. 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leads to costs of walking the guest + guest dissatisfaction.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And with Low Recall: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we miss predicting that a reservation would cancel, we'll have unsold rooms, which will be lost revenue.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Consider this example: There is a hotel that is always selling out and hovers around the ~100% occupancy: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If the hotel knows that the next closest property is 30 miles away or maybe they're a resort in the Maldives and the closest property is on another island...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They may want to prioritize higher 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precision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(correctly predicting a reservation will cancel), so that they don’t end up overselling their hotel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However, if the hotel in the heart of NYC and there are hundreds of properties near by, they may favor higher 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recall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(making sure they catch all cancellations correctly) 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They may be willing to risk overselling to maximize revenue and ensure they sell all of their rooms.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C39E8-BFB3-F8C1-5B10-A3B56C00F6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4567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C997-FD07-90B8-10F8-B80D92413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343BAE-CCA5-DDE6-0778-D504B9D7A2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1D50F-B16D-85DF-C2DF-EB7F101CD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My initial EDA led me to look at: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Weekly Demand(bookings) over time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Weekly Cancellations over time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 could see that seasonality was visible for both Demand and Cancellations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&lt;CLICK&gt; Peaks in October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&lt;CLICK&gt; Valleys in January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&lt;CLICK&gt; Goes back up in April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Only 2 years of data, but this looks like a trend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0ECFA-E6B5-405E-A37A-A59C2AB174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1679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50B91-B3FA-5EBF-C69F-9995B02EF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1F7CC-C154-D67C-F9A2-BF47414EA8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395B1-A288-9F33-643F-89EDD8299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my dataset there are 2 hotels, a City and Resort hotel in Portugal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City hotel has over 79,000 reservations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The Resort hotel has 40,060 reservations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&lt;CLICK&gt;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my initial look at the dataset, some important columns surfaced, but my main focus was on: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Is canceled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A90AA-C1A4-9493-B316-0BEDB0BE6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3774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Looking at cancellation percentages: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It reaches almost 50%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And stays between 30-40% throughout the dataset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This looked high to me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dirty="0"/>
              <a:t>In my EDA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Some reservations in the dataset were large group bookings that all cancelled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dirty="0"/>
              <a:t>Because of this, I wondered if I should isolate purely transient bookings to see if results will vary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328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When I dove deeper to look at Demand and Cancellation by Hotel Type, I noticed: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/>
              <a:t>&lt;CLICK&gt;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/>
              <a:t>The City Hotel  (Blue Lines)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/>
              <a:t>has higher demand and cancellations compared to the Resort Hotel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/>
              <a:t>has larger peaks and valleys compared resort hotel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/>
              <a:t>The peaks and valleys we saw before, are most likely influenced by the city hotel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/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/>
              <a:t>&lt;CLICK&gt;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/>
              <a:t>The cancellation trends are reasonable because: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/>
              <a:t>City hotels have tend to have higher corporate travelers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/>
              <a:t>Last minute changes to bookings based on needs are frequent, so increased cancellations are expected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/>
              <a:t>This holds true for demand as well, last minute needs to travel generates spikes in demand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/>
              <a:t>Resort hotels target mainly leisure guests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/>
              <a:t>When you’re traveling for vacation, you plan months or even years ahead. </a:t>
            </a:r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/>
              <a:t>It will take a lot more for you to cancel your travel plans compared to for a business trip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4959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9D294-5C9C-B212-1E3C-2A91BB418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10A0EA-3BAA-9D28-2D41-0CFE0B52D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994B10-7F18-F8C3-415A-42B0BCF56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During Feature Engineering I combined the two Transient customer types because the only difference was if these customers booked together as a party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Also, since there were very few group and contract in the dataset,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 removed those two customer types.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And my experience in my past roles using revenue management systems, Group and Contract forecasts are very different and much harder to predict compared to transient demand.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endParaRPr lang="en-US" sz="18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Therefore, I decided to focus only on transient customer types for simplicity and clarity.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61901-B2F9-5324-F713-1686914B4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4664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FAA5A-12C2-0A70-EFF6-AB78FCB1D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409AA-DA32-80E1-F854-3FB0EF9AA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5DECE4-A465-D4B3-C5FA-06B115DC7F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 two classification models I’ve run on this dataset were Logistic Regression and Random Forest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 The Logistic Regression model outperformed Random Forest in all metrics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 Let's look at Test and AUC scores first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Test Scores are the model’s accuracy in making predictions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While the AUC score measures the </a:t>
            </a:r>
            <a:r>
              <a:rPr lang="en-US" dirty="0"/>
              <a:t>model’s performance, the ability to differentiate between classes, </a:t>
            </a:r>
            <a:r>
              <a:rPr lang="en-US" dirty="0" err="1"/>
              <a:t>ie</a:t>
            </a:r>
            <a:r>
              <a:rPr lang="en-US" dirty="0"/>
              <a:t>: reservations being cancelled or not</a:t>
            </a: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With ML models, different parameter configurations may produce different accuracies.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Therefore, the AUC score provides an overall model score. 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You can kind of look at this as the parameter “agnostic” score, with some exceptions.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Another important metric to look at is the f1-score </a:t>
            </a:r>
            <a:endParaRPr lang="en-US" sz="1200" b="1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&lt;CLICK&gt;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b="1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F1 score </a:t>
            </a:r>
            <a:r>
              <a:rPr lang="en-US" sz="12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is the balance between Precision and Recall and the two generally have a see-saw relationship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To help understand this, lets look at the Logistic Regression model numbers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Precision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Out of all the reservations the model said were going to cancel, 100% of them actually cancelled (Note this value was rounded).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Recall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 Out of all the cancelled reservations, the model was able to correctly identify 87% of them.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1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So, which is more important, Precision or Recall?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What happens with Lower Precision: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we incorrectly predict a reservation will cancel, we may end up selling that room again in anticipation of that first guest not showing up. 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This leads to costs of walking the guest + guest dissatisfaction.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And with Low Recall: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If we miss predicting that a reservation would cancel, we'll have unsold rooms, which will be lost revenue.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Consider this example: There is a hotel that is always selling out and hovers around the ~100% occupancy: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If the hotel knows that the next closest property is 30 miles away or maybe they're a resort in the Maldives and the closets property is on another island...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They may want to prioritize higher 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precision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(correctly predicting a reservation will cancel), so that they don’t end up overselling their hotel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&lt;CLICK&gt; However, if the hotel in the heart of NYC and there are hundreds of properties near by, they may favor higher </a:t>
            </a:r>
            <a:r>
              <a:rPr lang="en-US" sz="11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recall 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(making sure they catch all cancellations correctly) </a:t>
            </a: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They may be willing to risk overselling to maximize revenue and ensure they sell all of their rooms.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BD421-0B42-5B6E-C77F-58E561BD7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1067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200B-3442-3772-25CC-F9FF38622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1B0622-793B-569B-0C70-A799F8A62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A0A537-F5C2-F35C-E151-720B85D661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Compare top most important features that are most influential in predicting the target variable ‘</a:t>
            </a: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is_canceled</a:t>
            </a: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’</a:t>
            </a:r>
          </a:p>
          <a:p>
            <a:pPr marL="628650" lvl="1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Logistic Regression </a:t>
            </a:r>
          </a:p>
          <a:p>
            <a:pPr marL="1085850" lvl="2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top 3 most important features:</a:t>
            </a:r>
          </a:p>
          <a:p>
            <a:pPr marL="1543050" lvl="3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status_month</a:t>
            </a: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543050" lvl="3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arrival_month</a:t>
            </a: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543050" lvl="3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Status_year</a:t>
            </a: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085850" lvl="2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Top 3 with most negative importance:</a:t>
            </a:r>
          </a:p>
          <a:p>
            <a:pPr marL="628650" lvl="1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Random Forest:</a:t>
            </a:r>
          </a:p>
          <a:p>
            <a:pPr marL="1085850" lvl="2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top 3 more important features:</a:t>
            </a:r>
          </a:p>
          <a:p>
            <a:pPr marL="1543050" lvl="3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total_of_special_requests</a:t>
            </a: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543050" lvl="3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status_month</a:t>
            </a: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543050" lvl="3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Status_dow</a:t>
            </a: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085850" lvl="2" indent="-171450" rtl="0" fontAlgn="base">
              <a:buFont typeface="Arial" panose="020B0604020202020204" pitchFamily="34" charset="0"/>
              <a:buChar char="•"/>
            </a:pPr>
            <a:r>
              <a:rPr lang="en-US" sz="11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Top 3 with most negative importance</a:t>
            </a:r>
          </a:p>
          <a:p>
            <a:pPr marL="1085850" lvl="2" indent="-171450" rtl="0" fontAlgn="base">
              <a:buFont typeface="Arial" panose="020B0604020202020204" pitchFamily="34" charset="0"/>
              <a:buChar char="•"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085850" marR="0" lvl="2" indent="-17145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With the Random Forest model, with the highest feature </a:t>
            </a:r>
            <a:r>
              <a:rPr lang="en-US" sz="16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`</a:t>
            </a:r>
            <a:r>
              <a:rPr lang="en-US" sz="1600" b="0" dirty="0" err="1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total_of_special_requests</a:t>
            </a:r>
            <a:r>
              <a:rPr lang="en-US" sz="1600" b="0" dirty="0">
                <a:solidFill>
                  <a:srgbClr val="CE9178"/>
                </a:solidFill>
                <a:effectLst/>
                <a:latin typeface="Menlo" panose="020B0609030804020204" pitchFamily="49" charset="0"/>
              </a:rPr>
              <a:t>`</a:t>
            </a:r>
            <a:r>
              <a:rPr lang="en-US" sz="1600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just over 16% the sum of the first 5 importances is just over 57%, whereas the Logistic Regression model has a highest feature being 22% and the sum of the first 5 importances is over 89%. This means that the logistic regression model indicates that there are fewer features that have a heavier influence in predicting the target variable compared to the random forest model's feature importances are more spread out between more features.</a:t>
            </a:r>
          </a:p>
          <a:p>
            <a:pPr marL="1085850" lvl="2" indent="-171450" rtl="0" fontAlgn="base">
              <a:buFont typeface="Arial" panose="020B0604020202020204" pitchFamily="34" charset="0"/>
              <a:buChar char="•"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D82166-C5CB-3447-80CB-45C92B8943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01341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F9F08-AAA8-9FCC-45FD-422C761A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E584D9-9F17-7B2A-9ADA-C2F1603E8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6111C1-A2EC-88FA-90C6-0FF902889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85850" lvl="2" indent="-171450" rtl="0" fontAlgn="base">
              <a:buFont typeface="Arial" panose="020B0604020202020204" pitchFamily="34" charset="0"/>
              <a:buChar char="•"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Top 4 Permutation Feature Importance: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Total Special Requests 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The Travel Agent/Tour Operator Market segment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No Deposit</a:t>
            </a:r>
          </a:p>
          <a:p>
            <a:pPr marL="628650" lvl="1" indent="-171450">
              <a:lnSpc>
                <a:spcPts val="1350"/>
              </a:lnSpc>
              <a:buFont typeface="Arial" panose="020B0604020202020204" pitchFamily="34" charset="0"/>
              <a:buChar char="•"/>
            </a:pP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Lead time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CA481-3020-F103-EE7A-0468A659D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13576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3E453-8231-8A31-8ACC-1AC69B21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D95E99-9725-80AD-A5F3-B9F582EC1D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D07BC-A024-4AB4-AB12-C8997ED2C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85850" lvl="2" indent="-171450" rtl="0" fontAlgn="base">
              <a:buFont typeface="Arial" panose="020B0604020202020204" pitchFamily="34" charset="0"/>
              <a:buChar char="•"/>
            </a:pPr>
            <a:endParaRPr lang="en-US" sz="11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71450" indent="-171450">
              <a:lnSpc>
                <a:spcPts val="1350"/>
              </a:lnSpc>
              <a:buFontTx/>
              <a:buChar char="-"/>
            </a:pPr>
            <a:r>
              <a:rPr lang="en-US" b="1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**True Negatives**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 12,800 of the data points from Class 0 were correctly predicted as reservations that would not cancel</a:t>
            </a:r>
          </a:p>
          <a:p>
            <a:pPr marL="171450" indent="-171450">
              <a:lnSpc>
                <a:spcPts val="1350"/>
              </a:lnSpc>
              <a:buFontTx/>
              <a:buChar char="-"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lnSpc>
                <a:spcPts val="1350"/>
              </a:lnSpc>
              <a:buFontTx/>
              <a:buChar char="-"/>
            </a:pPr>
            <a:r>
              <a:rPr lang="en-US" b="1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**False Positives**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 1500 of the reservations that the model predicted to cancel, did not cancel</a:t>
            </a:r>
          </a:p>
          <a:p>
            <a:pPr marL="171450" indent="-171450">
              <a:lnSpc>
                <a:spcPts val="1350"/>
              </a:lnSpc>
              <a:buFontTx/>
              <a:buChar char="-"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 marL="171450" indent="-171450">
              <a:lnSpc>
                <a:spcPts val="1350"/>
              </a:lnSpc>
              <a:buFontTx/>
              <a:buChar char="-"/>
            </a:pPr>
            <a:r>
              <a:rPr lang="en-US" b="1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**False Negatives**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 2800 of the reservations that cancelled were missed by our model and predicted that they would not cancel</a:t>
            </a:r>
          </a:p>
          <a:p>
            <a:pPr marL="171450" indent="-171450">
              <a:lnSpc>
                <a:spcPts val="1350"/>
              </a:lnSpc>
              <a:buFontTx/>
              <a:buChar char="-"/>
            </a:pPr>
            <a:endParaRPr lang="en-US" b="0" dirty="0">
              <a:solidFill>
                <a:srgbClr val="CCCCCC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</a:pPr>
            <a:r>
              <a:rPr lang="en-US" b="0" dirty="0">
                <a:solidFill>
                  <a:srgbClr val="6796E6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1" dirty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**True Positives**</a:t>
            </a:r>
            <a:r>
              <a:rPr lang="en-US" b="0" dirty="0">
                <a:solidFill>
                  <a:srgbClr val="CCCCCC"/>
                </a:solidFill>
                <a:effectLst/>
                <a:latin typeface="Menlo" panose="020B0609030804020204" pitchFamily="49" charset="0"/>
              </a:rPr>
              <a:t>: about 5800 of the cancelled reservations were correctly predicted out of the 8500 total cancellations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85D4A-3EFC-12F6-6BC9-7DA1611D5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B21CBD-D301-674F-94E8-EF9AD1ED1388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4624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58E14-23EC-4C25-974C-48FA83988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5021183" cy="507422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9FEDD4-20A1-49F6-9E3E-0B26B426BB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62167" y="3602038"/>
            <a:ext cx="5021183" cy="224458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0A32F-E6F3-4C2E-B9E3-E47868E42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1A759-BFF8-4B5B-9ECE-D93AC303B331}" type="datetime1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806724-A87A-4231-BFD9-277482AF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30D1AF-36B8-4BB8-BD6A-71194F7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FF94B3-6D3E-44FE-BB02-A9027C000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755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63D8A-C68D-4CF9-9D15-3E09BCC09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4D94C-E537-4FF3-AAF8-A85F05C31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4B1D4-6731-4993-8609-16C1D3327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BAB316-A2E6-49F2-825C-64AA951E4184}" type="datetime1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B7BBD-CEEB-4256-84B2-6D907E118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2A8B7-F430-4F4A-BB63-481F51E58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22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BAC1C-A332-4BA5-8C9C-FE0396C81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8"/>
            <a:ext cx="5020056" cy="4870974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8D137-710E-4125-B5E9-F63E7F1C9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62167" y="3566639"/>
            <a:ext cx="5021183" cy="2279979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480C5-E9A6-425E-B050-03E444BE9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9748B-ADD6-4C5A-8C2A-A39721276E74}" type="datetime1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B4831-6C0B-4E0B-A341-91E4C5D3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11EE6-252D-46DD-94DF-C42657EF2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906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04B06-C54A-4B7B-B6D1-436428EAF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8"/>
            <a:ext cx="5021182" cy="52076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23919-9A2F-4D97-8F31-6E35BD5975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63049" y="969264"/>
            <a:ext cx="5290751" cy="255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DA345-F684-4BAA-A22C-E725B3A60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63049" y="3621849"/>
            <a:ext cx="5290751" cy="255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99C52-9753-45D8-9646-CF31BB015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1FB0F-3C5C-4949-B933-9C7E511ED094}" type="datetime1">
              <a:rPr lang="en-US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95E57-622C-4199-940E-F5462E1A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1B7592-00E8-41EF-B749-2A5EA8E4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61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2291277-967B-4176-B40B-9EC360626994}"/>
              </a:ext>
            </a:extLst>
          </p:cNvPr>
          <p:cNvSpPr/>
          <p:nvPr/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B11C00-F7CB-4484-807A-D12745CD3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9" y="978119"/>
            <a:ext cx="11165481" cy="1073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AAA6E-E243-48B3-9585-3C1420B3E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7870" y="2178908"/>
            <a:ext cx="5020056" cy="65490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D01B8-0F2E-41A4-B21C-334393F6A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7870" y="2876085"/>
            <a:ext cx="5020056" cy="33228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9B23F-3E60-415A-9CE7-0928B5CFB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62168" y="2178908"/>
            <a:ext cx="5021182" cy="65490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223446-0CDC-402B-8D71-D9D29F6DF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62168" y="2876085"/>
            <a:ext cx="5021182" cy="33228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2B77D3-C6EC-4FFD-9E10-24E1AC54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7870" y="6420414"/>
            <a:ext cx="2743200" cy="365125"/>
          </a:xfrm>
        </p:spPr>
        <p:txBody>
          <a:bodyPr/>
          <a:lstStyle/>
          <a:p>
            <a:fld id="{C2F01D58-E949-4BCB-829A-BBF80E38D59C}" type="datetime1">
              <a:rPr lang="en-US" smtClean="0"/>
              <a:t>4/3/25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9DF31B-BD07-4DC2-95C2-B77E51AAE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54CE5A-3A0A-4AAB-81D2-F1C20636E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549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216B8-52AB-412B-BBE7-B6BE698F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F779C3-9D19-467E-A5D2-0920834DA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0A846-0DA4-4D92-9BF1-DE8C52C1F4DF}" type="datetime1">
              <a:rPr lang="en-US" smtClean="0"/>
              <a:t>4/3/25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72BB4-C8D8-4F74-9677-5AC979932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6B49B8-779F-4492-ABD9-96F0D042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037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B976BF-9339-48D6-881A-280D1549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2331-4A9C-472F-A7FA-968157338839}" type="datetime1">
              <a:rPr lang="en-US" smtClean="0"/>
              <a:t>4/3/25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77605-C9C8-432E-9662-D7D410B15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432B6-4A12-46EF-98A7-B5D50BD5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F191C-AF68-4230-A7B2-F8F07B486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8"/>
            <a:ext cx="5020948" cy="2270641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F9F11-5FCF-4D7E-BA51-38CB84277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3182" y="987423"/>
            <a:ext cx="5020948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3B519B-06C0-41BC-95FB-FB1FE4363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7870" y="3361038"/>
            <a:ext cx="5020948" cy="2507949"/>
          </a:xfrm>
        </p:spPr>
        <p:txBody>
          <a:bodyPr>
            <a:normAutofit/>
          </a:bodyPr>
          <a:lstStyle>
            <a:lvl1pPr marL="0" indent="0">
              <a:buNone/>
              <a:defRPr sz="2400" b="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8B70C-015C-4832-AFF6-D033E022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97F3D-ED52-43FD-A26D-318B71534485}" type="datetime1">
              <a:rPr lang="en-US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1A6FB-8C14-46D1-90A5-0FF11DE78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82C585-6FA1-4E94-9C1C-A1DEDE551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32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8B43-D1CE-43F4-A367-EF1FE9688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8"/>
            <a:ext cx="5020948" cy="2270641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B73978-8CDF-4C0E-ABA1-7291A0347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662168" y="987425"/>
            <a:ext cx="5027005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ECC62-ED45-451E-BEC5-A03C6A554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17870" y="3340442"/>
            <a:ext cx="5020948" cy="2528545"/>
          </a:xfrm>
        </p:spPr>
        <p:txBody>
          <a:bodyPr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1A7A86-B983-4315-9312-936B4FCF7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91FA4-6264-4BB8-B3B5-77711EED2D82}" type="datetime1">
              <a:rPr lang="en-US" smtClean="0"/>
              <a:t>4/3/25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E88C0-25A5-46F9-AB35-EAD50E6B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F9EA8-45AD-478E-8606-9328245BC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42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6B8E-1D8E-4105-9BBB-D53AD24B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825530-6629-4FEA-9670-EB21A2F5B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64C7A-A73F-46F5-BC33-696671DAE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DF398-5DA3-4937-BE3F-7CA1B9158252}" type="datetime1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3CC0-B649-4509-A4B6-DF9D20EFA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ECCCA-3F2A-46F3-BF45-7C862FF1D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498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0133B-2446-4168-AA17-6538910668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662168" y="996791"/>
            <a:ext cx="5011962" cy="49569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06A9AD-2756-4C51-A958-6756301EB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7870" y="996791"/>
            <a:ext cx="5021183" cy="49569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2995D-CCEA-43AF-973B-8B6B56A56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91ED9-F929-4A92-90F9-3C9C84ABBE83}" type="datetime1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029CF-BA62-4CCD-956E-FFA0B37B8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0B3D-96AB-41B3-ABDD-5B0DE863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18136A-0796-46EB-89BB-4C73C0258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507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1AD20-E240-4E6F-AF91-689F7AEEE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8"/>
            <a:ext cx="5021182" cy="487045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E78801-35D1-4C19-BC2B-EAC7EE917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62168" y="969264"/>
            <a:ext cx="5021182" cy="48704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282A45-C5B9-4575-8E28-A35767B4D7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7870" y="64204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7F6A1D9-D323-4F4E-8655-25E2D32CE742}" type="datetime1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D0933-AA03-4018-8E37-004CFB9F6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7870" y="9771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282A-DF4A-4A2D-9672-8F0F770A3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4317" y="6420414"/>
            <a:ext cx="6379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DFDF98CC-160E-494C-8C3C-8CDC5FA257D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E57300-C7FF-4578-99A0-42B0295B123C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8F8250-7A81-4A19-87AD-FFB2CE4E39A5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38FC-2DEA-2647-C409-EF75720C1017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747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8" r:id="rId6"/>
    <p:sldLayoutId id="2147483693" r:id="rId7"/>
    <p:sldLayoutId id="2147483694" r:id="rId8"/>
    <p:sldLayoutId id="2147483695" r:id="rId9"/>
    <p:sldLayoutId id="2147483697" r:id="rId10"/>
    <p:sldLayoutId id="2147483696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27432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27432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5" Type="http://schemas.openxmlformats.org/officeDocument/2006/relationships/hyperlink" Target="https://technofaq.org/posts/2018/02/why-canada-needs-to-take-water-management-seriously/" TargetMode="Externa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5" Type="http://schemas.openxmlformats.org/officeDocument/2006/relationships/image" Target="../media/image4.jpeg"/><Relationship Id="rId4" Type="http://schemas.openxmlformats.org/officeDocument/2006/relationships/image" Target="../media/image5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Network connection abstract against a white background">
            <a:extLst>
              <a:ext uri="{FF2B5EF4-FFF2-40B4-BE49-F238E27FC236}">
                <a16:creationId xmlns:a16="http://schemas.microsoft.com/office/drawing/2014/main" id="{7A54653F-0DC1-0AE1-9488-9129A1CB01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5730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FD1181-ED03-5DE4-E276-CF8BE8115A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400" dirty="0"/>
              <a:t>Hotel Cancellation Forecast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F15F16-4D1B-9786-E1C7-E4DA810D7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/>
          </a:bodyPr>
          <a:lstStyle/>
          <a:p>
            <a:pPr algn="ctr"/>
            <a:r>
              <a:rPr lang="en-US" sz="1900"/>
              <a:t>Brian Lui</a:t>
            </a:r>
            <a:endParaRPr lang="en-US" sz="1900" dirty="0"/>
          </a:p>
        </p:txBody>
      </p:sp>
    </p:spTree>
    <p:extLst>
      <p:ext uri="{BB962C8B-B14F-4D97-AF65-F5344CB8AC3E}">
        <p14:creationId xmlns:p14="http://schemas.microsoft.com/office/powerpoint/2010/main" val="3023732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90"/>
    </mc:Choice>
    <mc:Fallback xmlns="">
      <p:transition spd="slow" advTm="599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3" name="Rectangle 2082">
            <a:extLst>
              <a:ext uri="{FF2B5EF4-FFF2-40B4-BE49-F238E27FC236}">
                <a16:creationId xmlns:a16="http://schemas.microsoft.com/office/drawing/2014/main" id="{BF447FC5-81F5-498F-B253-3D2BBDD2E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140FE6-60CB-3CC8-E065-0DB712229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7" y="976159"/>
            <a:ext cx="5020056" cy="236971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000" dirty="0"/>
              <a:t>The Hotel Industry</a:t>
            </a:r>
            <a:br>
              <a:rPr lang="en-US" sz="2400" dirty="0"/>
            </a:br>
            <a:br>
              <a:rPr lang="en-US" sz="2400" dirty="0"/>
            </a:br>
            <a:br>
              <a:rPr lang="en-US" sz="2400" dirty="0"/>
            </a:br>
            <a:endParaRPr lang="en-US" sz="2400" dirty="0"/>
          </a:p>
        </p:txBody>
      </p:sp>
      <p:sp>
        <p:nvSpPr>
          <p:cNvPr id="2071" name="Content Placeholder 2070">
            <a:extLst>
              <a:ext uri="{FF2B5EF4-FFF2-40B4-BE49-F238E27FC236}">
                <a16:creationId xmlns:a16="http://schemas.microsoft.com/office/drawing/2014/main" id="{D1758EF3-DD60-783E-FFF2-5C888F6DB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166" y="3776870"/>
            <a:ext cx="4985339" cy="256913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Hotels have daily limited perishable 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Unsold rooms = Lost Revenue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Overselling rooms:</a:t>
            </a:r>
          </a:p>
          <a:p>
            <a:pPr marL="560070" lvl="1" indent="-285750"/>
            <a:r>
              <a:rPr lang="en-US" sz="1600" dirty="0"/>
              <a:t>Pay for a comparable hotel</a:t>
            </a:r>
          </a:p>
          <a:p>
            <a:pPr marL="560070" lvl="1" indent="-285750"/>
            <a:r>
              <a:rPr lang="en-US" sz="1600" dirty="0"/>
              <a:t>Transportation costs</a:t>
            </a:r>
          </a:p>
          <a:p>
            <a:pPr marL="560070" lvl="1" indent="-285750"/>
            <a:r>
              <a:rPr lang="en-US" sz="1600" dirty="0"/>
              <a:t>Damage to reputation and loyalty</a:t>
            </a:r>
          </a:p>
        </p:txBody>
      </p:sp>
      <p:sp>
        <p:nvSpPr>
          <p:cNvPr id="2085" name="Rectangle 2084">
            <a:extLst>
              <a:ext uri="{FF2B5EF4-FFF2-40B4-BE49-F238E27FC236}">
                <a16:creationId xmlns:a16="http://schemas.microsoft.com/office/drawing/2014/main" id="{A183D605-F0BC-4923-9BAD-8F2204285B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50" name="Picture 2" descr="Personalization in Hotel Check-in: Creating a Memorable Arrival for ...">
            <a:extLst>
              <a:ext uri="{FF2B5EF4-FFF2-40B4-BE49-F238E27FC236}">
                <a16:creationId xmlns:a16="http://schemas.microsoft.com/office/drawing/2014/main" id="{EBC29D23-C583-1DBB-1480-CABDE0F652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20619"/>
          <a:stretch/>
        </p:blipFill>
        <p:spPr bwMode="auto">
          <a:xfrm>
            <a:off x="6662166" y="613595"/>
            <a:ext cx="5011957" cy="2586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87" name="Rectangle 2086">
            <a:extLst>
              <a:ext uri="{FF2B5EF4-FFF2-40B4-BE49-F238E27FC236}">
                <a16:creationId xmlns:a16="http://schemas.microsoft.com/office/drawing/2014/main" id="{C1A59FC6-29E7-4618-829A-36CC011E5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3616882"/>
            <a:ext cx="502118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4" descr="Hotel Housekeeping – USALFH Corp.">
            <a:extLst>
              <a:ext uri="{FF2B5EF4-FFF2-40B4-BE49-F238E27FC236}">
                <a16:creationId xmlns:a16="http://schemas.microsoft.com/office/drawing/2014/main" id="{E0FC8E63-8D2E-3EF4-225B-C8F5DA43D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1689" y="3345872"/>
            <a:ext cx="5572411" cy="2479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2627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775"/>
    </mc:Choice>
    <mc:Fallback xmlns="">
      <p:transition spd="slow" advTm="677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1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7" name="Rectangle 1076">
            <a:extLst>
              <a:ext uri="{FF2B5EF4-FFF2-40B4-BE49-F238E27FC236}">
                <a16:creationId xmlns:a16="http://schemas.microsoft.com/office/drawing/2014/main" id="{E2EF6F8F-597F-716E-5B22-76DC90B3E7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039BB3-2FDD-9B7A-EF62-C8B258B5A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3648456"/>
            <a:ext cx="4645152" cy="2697480"/>
          </a:xfrm>
        </p:spPr>
        <p:txBody>
          <a:bodyPr>
            <a:normAutofit/>
          </a:bodyPr>
          <a:lstStyle/>
          <a:p>
            <a:r>
              <a:rPr lang="en-US"/>
              <a:t>How Machine Learning Can Help</a:t>
            </a:r>
          </a:p>
        </p:txBody>
      </p:sp>
      <p:sp>
        <p:nvSpPr>
          <p:cNvPr id="1079" name="Freeform: Shape 1078">
            <a:extLst>
              <a:ext uri="{FF2B5EF4-FFF2-40B4-BE49-F238E27FC236}">
                <a16:creationId xmlns:a16="http://schemas.microsoft.com/office/drawing/2014/main" id="{2AC934FA-18DC-F7A3-0EA7-05EDF7A3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Vancouver Marriott Pinnacle Downtown Hotel | Downtown hotels, Hotel ...">
            <a:extLst>
              <a:ext uri="{FF2B5EF4-FFF2-40B4-BE49-F238E27FC236}">
                <a16:creationId xmlns:a16="http://schemas.microsoft.com/office/drawing/2014/main" id="{CD8E045A-DA4D-9624-A7E4-599B1031DC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44" r="-1" b="7682"/>
          <a:stretch/>
        </p:blipFill>
        <p:spPr bwMode="auto">
          <a:xfrm>
            <a:off x="517869" y="970927"/>
            <a:ext cx="3520440" cy="2366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heraton Maldives Full Moon Resort &amp; Spa - North Malé Atoll | Marriott ...">
            <a:extLst>
              <a:ext uri="{FF2B5EF4-FFF2-40B4-BE49-F238E27FC236}">
                <a16:creationId xmlns:a16="http://schemas.microsoft.com/office/drawing/2014/main" id="{317A77C6-280A-1F30-619A-E1CED9F79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0" r="37911" b="2"/>
          <a:stretch/>
        </p:blipFill>
        <p:spPr bwMode="auto">
          <a:xfrm>
            <a:off x="4334256" y="970928"/>
            <a:ext cx="3520440" cy="2366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TLANTA AIRPORT MARRIOTT GATEWAY $164 ($̶2̶2̶5̶) - Updated 2023 Prices ...">
            <a:extLst>
              <a:ext uri="{FF2B5EF4-FFF2-40B4-BE49-F238E27FC236}">
                <a16:creationId xmlns:a16="http://schemas.microsoft.com/office/drawing/2014/main" id="{C441C9F7-1022-65A1-838A-66A5CD06A2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0"/>
          <a:stretch/>
        </p:blipFill>
        <p:spPr bwMode="auto">
          <a:xfrm>
            <a:off x="8150643" y="970927"/>
            <a:ext cx="3520440" cy="236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0" name="Content Placeholder 1029">
            <a:extLst>
              <a:ext uri="{FF2B5EF4-FFF2-40B4-BE49-F238E27FC236}">
                <a16:creationId xmlns:a16="http://schemas.microsoft.com/office/drawing/2014/main" id="{1BA76094-B92D-1549-5AD2-B6FA0363C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8112" y="3648456"/>
            <a:ext cx="6199632" cy="2697480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anken Grotesk"/>
              </a:rPr>
              <a:t>Metric of Success: Reaching a ”perfect sell”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anken Grotesk"/>
              </a:rPr>
              <a:t>Predicting cancellations to optimize pricing strategies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Hanken Grotesk"/>
              </a:rPr>
              <a:t>ML Models to solve classification problems:</a:t>
            </a:r>
          </a:p>
          <a:p>
            <a:pPr marL="617220" lvl="1" indent="-342900"/>
            <a:r>
              <a:rPr lang="en-US" dirty="0">
                <a:latin typeface="Hanken Grotesk"/>
              </a:rPr>
              <a:t>Logistic Regression</a:t>
            </a:r>
          </a:p>
          <a:p>
            <a:pPr marL="617220" lvl="1" indent="-342900"/>
            <a:r>
              <a:rPr lang="en-US" dirty="0">
                <a:latin typeface="Hanken Grotesk"/>
              </a:rPr>
              <a:t>Random Forest</a:t>
            </a:r>
          </a:p>
          <a:p>
            <a:pPr marL="342900" indent="-342900"/>
            <a:r>
              <a:rPr lang="en-US" dirty="0"/>
              <a:t>Goal: Reliability and Generalization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81543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628"/>
    </mc:Choice>
    <mc:Fallback xmlns="">
      <p:transition spd="slow" advTm="346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FF9FFCE1-E057-415B-A971-88EC7E22AF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E43397-F2B6-8F93-F55F-B2D16D5D1E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9" y="971397"/>
            <a:ext cx="3462236" cy="2947460"/>
          </a:xfrm>
        </p:spPr>
        <p:txBody>
          <a:bodyPr anchor="t">
            <a:normAutofit/>
          </a:bodyPr>
          <a:lstStyle/>
          <a:p>
            <a:r>
              <a:rPr lang="en-US" sz="4800"/>
              <a:t>The Dataset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5FAFA-7B18-8120-3904-CD15EE71B0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5813" y="2625018"/>
            <a:ext cx="3597631" cy="3919844"/>
          </a:xfrm>
        </p:spPr>
        <p:txBody>
          <a:bodyPr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dirty="0"/>
              <a:t>Important Columns:</a:t>
            </a: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rgbClr val="FF0000"/>
                </a:solidFill>
              </a:rPr>
              <a:t>is_canceled</a:t>
            </a:r>
            <a:endParaRPr lang="en-US" sz="1800" dirty="0">
              <a:solidFill>
                <a:srgbClr val="FF0000"/>
              </a:solidFill>
            </a:endParaRP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Market_segment</a:t>
            </a:r>
            <a:endParaRPr lang="en-US" sz="1800" dirty="0"/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Lead_time</a:t>
            </a:r>
            <a:endParaRPr lang="en-US" sz="1800" dirty="0"/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800" dirty="0" err="1"/>
              <a:t>Customer_type</a:t>
            </a:r>
            <a:endParaRPr lang="en-US" sz="1800" dirty="0"/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Target Class Imbalance Identified:</a:t>
            </a:r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Total reservations: 119,000</a:t>
            </a:r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800" dirty="0"/>
              <a:t>Reservations cancelled: 44,000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346557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pie chart with text on it&#10;&#10;AI-generated content may be incorrect.">
            <a:extLst>
              <a:ext uri="{FF2B5EF4-FFF2-40B4-BE49-F238E27FC236}">
                <a16:creationId xmlns:a16="http://schemas.microsoft.com/office/drawing/2014/main" id="{E6F9A9CF-00ED-E571-DFB9-9952308EF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4126" y="508090"/>
            <a:ext cx="6448749" cy="5626534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D58401B5-5F1B-4D21-9AC3-AAEC8D366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71704" y="6300216"/>
            <a:ext cx="7293604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46871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95"/>
    </mc:Choice>
    <mc:Fallback xmlns="">
      <p:transition spd="slow" advTm="177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B445A-FBA2-F5E7-3440-97032C66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EC38958-9A69-239A-BA79-2AEC73345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2197D6-07CA-431C-A137-F0EA79D6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5160" y="978408"/>
            <a:ext cx="4745736" cy="146304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Obstacles</a:t>
            </a:r>
          </a:p>
        </p:txBody>
      </p:sp>
      <p:pic>
        <p:nvPicPr>
          <p:cNvPr id="12" name="Picture 11" descr="Water coming out of a hole in the ground&#10;&#10;AI-generated content may be incorrect.">
            <a:extLst>
              <a:ext uri="{FF2B5EF4-FFF2-40B4-BE49-F238E27FC236}">
                <a16:creationId xmlns:a16="http://schemas.microsoft.com/office/drawing/2014/main" id="{C3B5841E-D3EF-8046-AEBD-588A456041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rcRect l="13123" r="21739" b="1"/>
          <a:stretch/>
        </p:blipFill>
        <p:spPr>
          <a:xfrm>
            <a:off x="517868" y="508090"/>
            <a:ext cx="5705856" cy="5846990"/>
          </a:xfrm>
          <a:prstGeom prst="rect">
            <a:avLst/>
          </a:prstGeom>
        </p:spPr>
      </p:pic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6EC109E5-0396-8968-4F42-DFEC28036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6407" y="508090"/>
            <a:ext cx="4660733" cy="149279"/>
          </a:xfrm>
          <a:custGeom>
            <a:avLst/>
            <a:gdLst>
              <a:gd name="connsiteX0" fmla="*/ 0 w 6090847"/>
              <a:gd name="connsiteY0" fmla="*/ 0 h 149279"/>
              <a:gd name="connsiteX1" fmla="*/ 6090847 w 6090847"/>
              <a:gd name="connsiteY1" fmla="*/ 0 h 149279"/>
              <a:gd name="connsiteX2" fmla="*/ 6090847 w 6090847"/>
              <a:gd name="connsiteY2" fmla="*/ 149279 h 149279"/>
              <a:gd name="connsiteX3" fmla="*/ 0 w 6090847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90847" h="149279">
                <a:moveTo>
                  <a:pt x="0" y="0"/>
                </a:moveTo>
                <a:lnTo>
                  <a:pt x="6090847" y="0"/>
                </a:lnTo>
                <a:lnTo>
                  <a:pt x="6090847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F03AC006-3B48-28BB-A33B-CEB5B7C332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95160" y="2578608"/>
            <a:ext cx="4672584" cy="3767328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228600">
              <a:buFont typeface="Arial" panose="020B0604020202020204" pitchFamily="34" charset="0"/>
              <a:buChar char="•"/>
            </a:pPr>
            <a:r>
              <a:rPr lang="en-US" dirty="0"/>
              <a:t>Overfitting – Initial models had 100% train accuracy or 100% precision</a:t>
            </a:r>
          </a:p>
          <a:p>
            <a:pPr marL="342900" indent="-228600">
              <a:buFont typeface="Arial" panose="020B0604020202020204" pitchFamily="34" charset="0"/>
              <a:buChar char="•"/>
            </a:pPr>
            <a:r>
              <a:rPr lang="en-US" dirty="0"/>
              <a:t>Through exploration, corrected the target class imbalance</a:t>
            </a:r>
          </a:p>
          <a:p>
            <a:pPr marL="342900" indent="-228600">
              <a:buFont typeface="Arial" panose="020B0604020202020204" pitchFamily="34" charset="0"/>
              <a:buChar char="•"/>
            </a:pPr>
            <a:r>
              <a:rPr lang="en-US" dirty="0"/>
              <a:t>Leak identified: </a:t>
            </a:r>
            <a:r>
              <a:rPr lang="en-US" dirty="0" err="1"/>
              <a:t>Reservation_Status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88446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045"/>
    </mc:Choice>
    <mc:Fallback xmlns="">
      <p:transition spd="slow" advTm="210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5454A3-649D-A9A0-0DC4-F27E9949F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7130E-320B-0757-EC40-0211C430A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Model Comparisons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55" name="Content Placeholder 54">
            <a:extLst>
              <a:ext uri="{FF2B5EF4-FFF2-40B4-BE49-F238E27FC236}">
                <a16:creationId xmlns:a16="http://schemas.microsoft.com/office/drawing/2014/main" id="{3F53F990-8FA1-9414-018B-13B1337E47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7224" y="1088136"/>
            <a:ext cx="4160520" cy="5257800"/>
          </a:xfrm>
        </p:spPr>
        <p:txBody>
          <a:bodyPr vert="horz" lIns="91440" tIns="45720" rIns="91440" bIns="45720" rtlCol="0">
            <a:normAutofit/>
          </a:bodyPr>
          <a:lstStyle/>
          <a:p>
            <a:pPr marL="57150"/>
            <a:endParaRPr lang="en-US" sz="14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0005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B27BC3A-C397-AA23-A8F3-11274C5A5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3341917"/>
              </p:ext>
            </p:extLst>
          </p:nvPr>
        </p:nvGraphicFramePr>
        <p:xfrm>
          <a:off x="612648" y="2228315"/>
          <a:ext cx="6281928" cy="1803275"/>
        </p:xfrm>
        <a:graphic>
          <a:graphicData uri="http://schemas.openxmlformats.org/drawingml/2006/table">
            <a:tbl>
              <a:tblPr firstRow="1" firstCol="1"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018719">
                  <a:extLst>
                    <a:ext uri="{9D8B030D-6E8A-4147-A177-3AD203B41FA5}">
                      <a16:colId xmlns:a16="http://schemas.microsoft.com/office/drawing/2014/main" val="2792630484"/>
                    </a:ext>
                  </a:extLst>
                </a:gridCol>
                <a:gridCol w="2013729">
                  <a:extLst>
                    <a:ext uri="{9D8B030D-6E8A-4147-A177-3AD203B41FA5}">
                      <a16:colId xmlns:a16="http://schemas.microsoft.com/office/drawing/2014/main" val="2816371424"/>
                    </a:ext>
                  </a:extLst>
                </a:gridCol>
                <a:gridCol w="1624740">
                  <a:extLst>
                    <a:ext uri="{9D8B030D-6E8A-4147-A177-3AD203B41FA5}">
                      <a16:colId xmlns:a16="http://schemas.microsoft.com/office/drawing/2014/main" val="382949225"/>
                    </a:ext>
                  </a:extLst>
                </a:gridCol>
                <a:gridCol w="1624740">
                  <a:extLst>
                    <a:ext uri="{9D8B030D-6E8A-4147-A177-3AD203B41FA5}">
                      <a16:colId xmlns:a16="http://schemas.microsoft.com/office/drawing/2014/main" val="999809081"/>
                    </a:ext>
                  </a:extLst>
                </a:gridCol>
              </a:tblGrid>
              <a:tr h="47899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Metric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Train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Test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Overfit Amt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847169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Accuracy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81.91%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88.80%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1.11%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05445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AUC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90.90%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87.70%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3.20%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614446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F1- Score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80.44%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72.26%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8.18%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6669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F806936-2073-8C22-BE20-ECA92A362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7582734"/>
              </p:ext>
            </p:extLst>
          </p:nvPr>
        </p:nvGraphicFramePr>
        <p:xfrm>
          <a:off x="612648" y="4814926"/>
          <a:ext cx="6281928" cy="1803275"/>
        </p:xfrm>
        <a:graphic>
          <a:graphicData uri="http://schemas.openxmlformats.org/drawingml/2006/table">
            <a:tbl>
              <a:tblPr firstRow="1" firstCol="1"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018719">
                  <a:extLst>
                    <a:ext uri="{9D8B030D-6E8A-4147-A177-3AD203B41FA5}">
                      <a16:colId xmlns:a16="http://schemas.microsoft.com/office/drawing/2014/main" val="2792630484"/>
                    </a:ext>
                  </a:extLst>
                </a:gridCol>
                <a:gridCol w="2013729">
                  <a:extLst>
                    <a:ext uri="{9D8B030D-6E8A-4147-A177-3AD203B41FA5}">
                      <a16:colId xmlns:a16="http://schemas.microsoft.com/office/drawing/2014/main" val="2816371424"/>
                    </a:ext>
                  </a:extLst>
                </a:gridCol>
                <a:gridCol w="1624740">
                  <a:extLst>
                    <a:ext uri="{9D8B030D-6E8A-4147-A177-3AD203B41FA5}">
                      <a16:colId xmlns:a16="http://schemas.microsoft.com/office/drawing/2014/main" val="382949225"/>
                    </a:ext>
                  </a:extLst>
                </a:gridCol>
                <a:gridCol w="1624740">
                  <a:extLst>
                    <a:ext uri="{9D8B030D-6E8A-4147-A177-3AD203B41FA5}">
                      <a16:colId xmlns:a16="http://schemas.microsoft.com/office/drawing/2014/main" val="999809081"/>
                    </a:ext>
                  </a:extLst>
                </a:gridCol>
              </a:tblGrid>
              <a:tr h="463879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Metric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Train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Test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Overfit Amt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847169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Accuracy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90.80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84.33%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6.47%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05445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AUC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94.40%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90.10%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4.30%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614446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F1- Score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90.58%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78.18%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12.40%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6669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DF996FF-E297-9C61-0E1E-BDD4DCC93962}"/>
              </a:ext>
            </a:extLst>
          </p:cNvPr>
          <p:cNvSpPr txBox="1"/>
          <p:nvPr/>
        </p:nvSpPr>
        <p:spPr>
          <a:xfrm>
            <a:off x="306324" y="4397413"/>
            <a:ext cx="1218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u="sng" dirty="0" err="1"/>
              <a:t>XGBoost</a:t>
            </a:r>
            <a:r>
              <a:rPr lang="en-US" sz="2000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ED199-47D4-0A57-2FCB-C77D3EBED0A3}"/>
              </a:ext>
            </a:extLst>
          </p:cNvPr>
          <p:cNvSpPr txBox="1"/>
          <p:nvPr/>
        </p:nvSpPr>
        <p:spPr>
          <a:xfrm>
            <a:off x="306324" y="1858983"/>
            <a:ext cx="1827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Random Forest</a:t>
            </a:r>
            <a:r>
              <a:rPr lang="en-US" dirty="0"/>
              <a:t>:</a:t>
            </a: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1CC2FC9D-152A-B209-5982-C6FECF5F46F4}"/>
              </a:ext>
            </a:extLst>
          </p:cNvPr>
          <p:cNvSpPr/>
          <p:nvPr/>
        </p:nvSpPr>
        <p:spPr>
          <a:xfrm>
            <a:off x="3986463" y="2043075"/>
            <a:ext cx="962526" cy="4694610"/>
          </a:xfrm>
          <a:prstGeom prst="frame">
            <a:avLst>
              <a:gd name="adj1" fmla="val 532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1AA55B86-7C41-DCB1-9808-49A53E5DD57D}"/>
              </a:ext>
            </a:extLst>
          </p:cNvPr>
          <p:cNvSpPr/>
          <p:nvPr/>
        </p:nvSpPr>
        <p:spPr>
          <a:xfrm>
            <a:off x="5248814" y="2043075"/>
            <a:ext cx="1787494" cy="4694610"/>
          </a:xfrm>
          <a:prstGeom prst="frame">
            <a:avLst>
              <a:gd name="adj1" fmla="val 38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B8120-82C6-6DB5-08FD-99F03093B4CD}"/>
              </a:ext>
            </a:extLst>
          </p:cNvPr>
          <p:cNvSpPr txBox="1"/>
          <p:nvPr/>
        </p:nvSpPr>
        <p:spPr>
          <a:xfrm>
            <a:off x="7608392" y="1858983"/>
            <a:ext cx="406574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XGBoost</a:t>
            </a:r>
            <a:r>
              <a:rPr lang="en-US" sz="2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4% higher accuracy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3% higher AUC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6% higher F-1 score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XGBoost</a:t>
            </a:r>
            <a:r>
              <a:rPr lang="en-US" sz="2400" dirty="0"/>
              <a:t> is more overfitted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Goal: Reliability and Generalization</a:t>
            </a:r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900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414"/>
    </mc:Choice>
    <mc:Fallback xmlns="">
      <p:transition spd="slow" advTm="14141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6" grpId="1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339A52-9974-6C6D-F1DF-7C285F191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49" name="Rectangle 48">
            <a:extLst>
              <a:ext uri="{FF2B5EF4-FFF2-40B4-BE49-F238E27FC236}">
                <a16:creationId xmlns:a16="http://schemas.microsoft.com/office/drawing/2014/main" id="{FF9FFCE1-E057-415B-A971-88EC7E22AF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F246AD-72B4-DE3D-EB8C-EAE3EF361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1908385"/>
            <a:ext cx="3462236" cy="29474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dirty="0"/>
              <a:t>Feature Importance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346557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A graph of a graph with blue and white text&#10;&#10;AI-generated content may be incorrect.">
            <a:extLst>
              <a:ext uri="{FF2B5EF4-FFF2-40B4-BE49-F238E27FC236}">
                <a16:creationId xmlns:a16="http://schemas.microsoft.com/office/drawing/2014/main" id="{F56EC746-296A-0132-8A3E-5FA8AD352F1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4267197" y="1023431"/>
            <a:ext cx="7502617" cy="4820432"/>
          </a:xfrm>
          <a:prstGeom prst="rect">
            <a:avLst/>
          </a:prstGeom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D58401B5-5F1B-4D21-9AC3-AAEC8D3665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71704" y="6300216"/>
            <a:ext cx="7293604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CF9000-2434-C7CC-12FF-34CF87362414}"/>
              </a:ext>
            </a:extLst>
          </p:cNvPr>
          <p:cNvSpPr txBox="1"/>
          <p:nvPr/>
        </p:nvSpPr>
        <p:spPr>
          <a:xfrm>
            <a:off x="240632" y="3798782"/>
            <a:ext cx="3888605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Permutation Feature Importance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Total Special Requests: 20%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Market Segment TA/TO: 12%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Deposit Type: No Deposit: 12%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Lead Time: 10%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F200A78E-D469-03DF-B898-594F4FF02127}"/>
              </a:ext>
            </a:extLst>
          </p:cNvPr>
          <p:cNvSpPr/>
          <p:nvPr/>
        </p:nvSpPr>
        <p:spPr>
          <a:xfrm>
            <a:off x="4221306" y="4855845"/>
            <a:ext cx="567891" cy="2048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7B7D5D9D-0ADB-D035-1D6B-E1E1F2286621}"/>
              </a:ext>
            </a:extLst>
          </p:cNvPr>
          <p:cNvSpPr/>
          <p:nvPr/>
        </p:nvSpPr>
        <p:spPr>
          <a:xfrm>
            <a:off x="4371704" y="3561347"/>
            <a:ext cx="7398110" cy="1588169"/>
          </a:xfrm>
          <a:prstGeom prst="frame">
            <a:avLst>
              <a:gd name="adj1" fmla="val 40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09792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045"/>
    </mc:Choice>
    <mc:Fallback xmlns="">
      <p:transition spd="slow" advTm="210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9610A-B7BC-8921-FC35-B8FB5A411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E1A561-AC64-8728-0B04-7FF0DF2A8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Error Analysis: Lead Time Distribution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3D62833E-A513-15A5-0A72-83ABFCED71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507224" y="1088136"/>
            <a:ext cx="4351100" cy="5257800"/>
          </a:xfrm>
        </p:spPr>
        <p:txBody>
          <a:bodyPr vert="horz" lIns="91440" tIns="45720" rIns="91440" bIns="45720" rtlCol="0">
            <a:normAutofit/>
          </a:bodyPr>
          <a:lstStyle/>
          <a:p>
            <a:pPr marL="114300"/>
            <a:endParaRPr lang="en-US" dirty="0"/>
          </a:p>
          <a:p>
            <a:pPr marL="114300"/>
            <a:endParaRPr lang="en-US" dirty="0"/>
          </a:p>
          <a:p>
            <a:pPr marL="114300"/>
            <a:endParaRPr lang="en-US" dirty="0"/>
          </a:p>
          <a:p>
            <a:pPr marL="114300"/>
            <a:r>
              <a:rPr lang="en-US" dirty="0"/>
              <a:t>True Positives vs. False Positive </a:t>
            </a:r>
          </a:p>
          <a:p>
            <a:pPr marL="617220" lvl="1" indent="-228600"/>
            <a:r>
              <a:rPr lang="en-US" dirty="0"/>
              <a:t>TP: Mean is above 100 days</a:t>
            </a:r>
          </a:p>
          <a:p>
            <a:pPr marL="617220" lvl="1" indent="-228600"/>
            <a:r>
              <a:rPr lang="en-US" dirty="0"/>
              <a:t>FP: Mean is below 100 days</a:t>
            </a:r>
          </a:p>
          <a:p>
            <a:pPr marL="342900" indent="-228600">
              <a:buFont typeface="Arial" panose="020B0604020202020204" pitchFamily="34" charset="0"/>
              <a:buChar char="•"/>
            </a:pPr>
            <a:r>
              <a:rPr lang="en-US" dirty="0"/>
              <a:t>Model struggles with reservations that have shorter lead times (less than 100 days)</a:t>
            </a:r>
          </a:p>
        </p:txBody>
      </p:sp>
      <p:pic>
        <p:nvPicPr>
          <p:cNvPr id="10" name="Picture 9" descr="A diagram of a group of boxes&#10;&#10;AI-generated content may be incorrect.">
            <a:extLst>
              <a:ext uri="{FF2B5EF4-FFF2-40B4-BE49-F238E27FC236}">
                <a16:creationId xmlns:a16="http://schemas.microsoft.com/office/drawing/2014/main" id="{10793E0E-3E2D-19FF-CD4A-EE4ACD704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696" y="2304288"/>
            <a:ext cx="6533728" cy="4232673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3B28ADDC-83B9-C84C-4343-2114410F224E}"/>
              </a:ext>
            </a:extLst>
          </p:cNvPr>
          <p:cNvSpPr/>
          <p:nvPr/>
        </p:nvSpPr>
        <p:spPr>
          <a:xfrm>
            <a:off x="333676" y="5152637"/>
            <a:ext cx="625642" cy="14927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94748AC8-1330-1CE5-517D-36495F504D3E}"/>
              </a:ext>
            </a:extLst>
          </p:cNvPr>
          <p:cNvSpPr/>
          <p:nvPr/>
        </p:nvSpPr>
        <p:spPr>
          <a:xfrm rot="10800000">
            <a:off x="6639026" y="5398168"/>
            <a:ext cx="625642" cy="14927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83797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045"/>
    </mc:Choice>
    <mc:Fallback xmlns="">
      <p:transition spd="slow" advTm="210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build="p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D16C4DE-5FF1-8D34-BBA1-FC43F3155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2EA0B-C332-6ED7-BAD3-07BD9CC37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800600" cy="1691640"/>
          </a:xfrm>
        </p:spPr>
        <p:txBody>
          <a:bodyPr>
            <a:normAutofit/>
          </a:bodyPr>
          <a:lstStyle/>
          <a:p>
            <a:r>
              <a:rPr lang="en-US"/>
              <a:t>Next Steps</a:t>
            </a:r>
          </a:p>
        </p:txBody>
      </p:sp>
      <p:sp>
        <p:nvSpPr>
          <p:cNvPr id="20" name="Freeform: Shape 16">
            <a:extLst>
              <a:ext uri="{FF2B5EF4-FFF2-40B4-BE49-F238E27FC236}">
                <a16:creationId xmlns:a16="http://schemas.microsoft.com/office/drawing/2014/main" id="{B6914053-73D7-E377-E88C-94E35AAD4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3D4D8-B572-61D4-3027-88CCC841CB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3016" y="1060704"/>
            <a:ext cx="5824728" cy="162763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Explore additional Feature Engineering to address errors</a:t>
            </a:r>
          </a:p>
          <a:p>
            <a:pPr marL="617220" lvl="1" indent="-342900">
              <a:lnSpc>
                <a:spcPct val="100000"/>
              </a:lnSpc>
            </a:pPr>
            <a:r>
              <a:rPr lang="en-US" sz="1400" dirty="0"/>
              <a:t>Binning features like Lead Time</a:t>
            </a:r>
          </a:p>
          <a:p>
            <a:pPr marL="617220" lvl="1" indent="-342900">
              <a:lnSpc>
                <a:spcPct val="100000"/>
              </a:lnSpc>
            </a:pPr>
            <a:r>
              <a:rPr lang="en-US" sz="1400" dirty="0"/>
              <a:t>Removing unnecessary features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Predict daily occupancy</a:t>
            </a:r>
          </a:p>
          <a:p>
            <a:pPr marL="617220" lvl="1" indent="-342900">
              <a:lnSpc>
                <a:spcPct val="100000"/>
              </a:lnSpc>
            </a:pPr>
            <a:r>
              <a:rPr lang="en-US" sz="1400" dirty="0"/>
              <a:t>Explore Time Series Forecasting for Demand</a:t>
            </a:r>
            <a:endParaRPr lang="en-US" sz="1600" dirty="0"/>
          </a:p>
        </p:txBody>
      </p:sp>
      <p:pic>
        <p:nvPicPr>
          <p:cNvPr id="4" name="Picture 12" descr="London Marriott Hotel County Hall Opinioni | Londra Recensioni dell'Hotel">
            <a:extLst>
              <a:ext uri="{FF2B5EF4-FFF2-40B4-BE49-F238E27FC236}">
                <a16:creationId xmlns:a16="http://schemas.microsoft.com/office/drawing/2014/main" id="{02E7AE73-8B65-1F85-807E-60D95FA1ED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01" r="1" b="11604"/>
          <a:stretch/>
        </p:blipFill>
        <p:spPr bwMode="auto">
          <a:xfrm>
            <a:off x="517871" y="2921001"/>
            <a:ext cx="11149534" cy="3424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8352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51"/>
    </mc:Choice>
    <mc:Fallback xmlns="">
      <p:transition spd="slow" advTm="1995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9" name="Rectangle 3108">
            <a:extLst>
              <a:ext uri="{FF2B5EF4-FFF2-40B4-BE49-F238E27FC236}">
                <a16:creationId xmlns:a16="http://schemas.microsoft.com/office/drawing/2014/main" id="{ADE57300-C7FF-4578-99A0-42B0295B1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0" name="Rectangle 3109">
            <a:extLst>
              <a:ext uri="{FF2B5EF4-FFF2-40B4-BE49-F238E27FC236}">
                <a16:creationId xmlns:a16="http://schemas.microsoft.com/office/drawing/2014/main" id="{DB8F8250-7A81-4A19-87AD-FFB2CE4E3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1" name="Rectangle 3110">
            <a:extLst>
              <a:ext uri="{FF2B5EF4-FFF2-40B4-BE49-F238E27FC236}">
                <a16:creationId xmlns:a16="http://schemas.microsoft.com/office/drawing/2014/main" id="{499F38FC-2DEA-2647-C409-EF75720C1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2" name="Rectangle 3111">
            <a:extLst>
              <a:ext uri="{FF2B5EF4-FFF2-40B4-BE49-F238E27FC236}">
                <a16:creationId xmlns:a16="http://schemas.microsoft.com/office/drawing/2014/main" id="{F3FF94B3-6D3E-44FE-BB02-A9027C000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62168" y="6209925"/>
            <a:ext cx="5021183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3" name="Rectangle 3112">
            <a:extLst>
              <a:ext uri="{FF2B5EF4-FFF2-40B4-BE49-F238E27FC236}">
                <a16:creationId xmlns:a16="http://schemas.microsoft.com/office/drawing/2014/main" id="{5820888B-4EA5-E0E8-6D52-7733E1E774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B466A28-3F65-F021-FB9F-DE68301652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Thank You</a:t>
            </a:r>
          </a:p>
        </p:txBody>
      </p:sp>
      <p:sp>
        <p:nvSpPr>
          <p:cNvPr id="3114" name="Freeform: Shape 3094">
            <a:extLst>
              <a:ext uri="{FF2B5EF4-FFF2-40B4-BE49-F238E27FC236}">
                <a16:creationId xmlns:a16="http://schemas.microsoft.com/office/drawing/2014/main" id="{06B5A8BF-0680-F9A7-27B1-3971EC934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080" name="Picture 8" descr="Portrait of friendly hotel staff | Отели, Спа, Турция">
            <a:extLst>
              <a:ext uri="{FF2B5EF4-FFF2-40B4-BE49-F238E27FC236}">
                <a16:creationId xmlns:a16="http://schemas.microsoft.com/office/drawing/2014/main" id="{928BF364-E3EF-B16A-719C-0DAD31DD6B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119154" y="965741"/>
            <a:ext cx="7551931" cy="50220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489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05"/>
    </mc:Choice>
    <mc:Fallback xmlns="">
      <p:transition spd="slow" advTm="2805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BC044A-32F5-93E7-AD77-89ACCC4C0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534AA-6A37-E300-6FC0-71ED9978E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Model Comparisons</a:t>
            </a:r>
          </a:p>
        </p:txBody>
      </p:sp>
      <p:sp>
        <p:nvSpPr>
          <p:cNvPr id="55" name="Content Placeholder 54">
            <a:extLst>
              <a:ext uri="{FF2B5EF4-FFF2-40B4-BE49-F238E27FC236}">
                <a16:creationId xmlns:a16="http://schemas.microsoft.com/office/drawing/2014/main" id="{26CF173B-5B8D-6D7B-BB4D-96CFB3D71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7224" y="1088136"/>
            <a:ext cx="4160520" cy="5257800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Logistic Regression model outperformed Random Forest models in all metrics</a:t>
            </a:r>
            <a:endParaRPr lang="en-US" sz="18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</a:rPr>
              <a:t>Low Precision:</a:t>
            </a:r>
          </a:p>
          <a:p>
            <a:pPr marL="560070" lvl="1" indent="-22860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Walking the guest + guest dissatisfaction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</a:rPr>
              <a:t>Low Recall:</a:t>
            </a:r>
          </a:p>
          <a:p>
            <a:pPr marL="560070" lvl="1" indent="-22860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More unsold rooms</a:t>
            </a:r>
          </a:p>
          <a:p>
            <a:pPr marL="34290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</a:rPr>
              <a:t>Hotel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A: Next closest hotel is far away</a:t>
            </a:r>
          </a:p>
          <a:p>
            <a:pPr marL="617220" lvl="1" indent="-28575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Prioritize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</a:rPr>
              <a:t>Precision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 to prevent walking guests</a:t>
            </a:r>
          </a:p>
          <a:p>
            <a:pPr marL="34290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Hotel B: Centrally located in a big city</a:t>
            </a:r>
          </a:p>
          <a:p>
            <a:pPr marL="617220" lvl="1" indent="-28575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Prioritize </a:t>
            </a: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</a:rPr>
              <a:t>Recall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 to maximize selling all rooms</a:t>
            </a:r>
          </a:p>
          <a:p>
            <a:pPr marL="57150"/>
            <a:endParaRPr lang="en-US" sz="14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0005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CA0060-C1F7-1943-D806-F10F4BB6E3F3}"/>
              </a:ext>
            </a:extLst>
          </p:cNvPr>
          <p:cNvGraphicFramePr>
            <a:graphicFrameLocks noGrp="1"/>
          </p:cNvGraphicFramePr>
          <p:nvPr/>
        </p:nvGraphicFramePr>
        <p:xfrm>
          <a:off x="612648" y="2543233"/>
          <a:ext cx="6281929" cy="3614593"/>
        </p:xfrm>
        <a:graphic>
          <a:graphicData uri="http://schemas.openxmlformats.org/drawingml/2006/table">
            <a:tbl>
              <a:tblPr firstRow="1" firstCol="1"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374117">
                  <a:extLst>
                    <a:ext uri="{9D8B030D-6E8A-4147-A177-3AD203B41FA5}">
                      <a16:colId xmlns:a16="http://schemas.microsoft.com/office/drawing/2014/main" val="2792630484"/>
                    </a:ext>
                  </a:extLst>
                </a:gridCol>
                <a:gridCol w="2716253">
                  <a:extLst>
                    <a:ext uri="{9D8B030D-6E8A-4147-A177-3AD203B41FA5}">
                      <a16:colId xmlns:a16="http://schemas.microsoft.com/office/drawing/2014/main" val="2816371424"/>
                    </a:ext>
                  </a:extLst>
                </a:gridCol>
                <a:gridCol w="2191559">
                  <a:extLst>
                    <a:ext uri="{9D8B030D-6E8A-4147-A177-3AD203B41FA5}">
                      <a16:colId xmlns:a16="http://schemas.microsoft.com/office/drawing/2014/main" val="382949225"/>
                    </a:ext>
                  </a:extLst>
                </a:gridCol>
              </a:tblGrid>
              <a:tr h="527488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Metric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Logistic Regression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Random Forest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847169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Train Score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95.50%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88.90%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05445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Test Score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95.42%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88.30%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614446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Train AUC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99.30%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95.40%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66690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Test AUC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99.20%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94.70%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070807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f1-score: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93%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84%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6011675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r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100%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555692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r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Recall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87%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79%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331519"/>
                  </a:ext>
                </a:extLst>
              </a:tr>
            </a:tbl>
          </a:graphicData>
        </a:graphic>
      </p:graphicFrame>
      <p:sp>
        <p:nvSpPr>
          <p:cNvPr id="9" name="Left Arrow 8">
            <a:extLst>
              <a:ext uri="{FF2B5EF4-FFF2-40B4-BE49-F238E27FC236}">
                <a16:creationId xmlns:a16="http://schemas.microsoft.com/office/drawing/2014/main" id="{CFB94F66-F061-8F71-E614-A38A7F990EE1}"/>
              </a:ext>
            </a:extLst>
          </p:cNvPr>
          <p:cNvSpPr/>
          <p:nvPr/>
        </p:nvSpPr>
        <p:spPr>
          <a:xfrm rot="10800000">
            <a:off x="49486" y="4995930"/>
            <a:ext cx="513675" cy="239855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Left Arrow 11">
            <a:extLst>
              <a:ext uri="{FF2B5EF4-FFF2-40B4-BE49-F238E27FC236}">
                <a16:creationId xmlns:a16="http://schemas.microsoft.com/office/drawing/2014/main" id="{BCC2AF55-8231-4881-88D9-90C403A88D56}"/>
              </a:ext>
            </a:extLst>
          </p:cNvPr>
          <p:cNvSpPr/>
          <p:nvPr/>
        </p:nvSpPr>
        <p:spPr>
          <a:xfrm rot="10800000">
            <a:off x="194747" y="5433205"/>
            <a:ext cx="629017" cy="239855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691C49D5-6E00-1043-427D-3DC0E2ED600A}"/>
              </a:ext>
            </a:extLst>
          </p:cNvPr>
          <p:cNvSpPr/>
          <p:nvPr/>
        </p:nvSpPr>
        <p:spPr>
          <a:xfrm rot="10800000">
            <a:off x="209746" y="5870481"/>
            <a:ext cx="629017" cy="239854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18347A3B-2E61-48F3-1A83-D1E1F7F45216}"/>
              </a:ext>
            </a:extLst>
          </p:cNvPr>
          <p:cNvSpPr/>
          <p:nvPr/>
        </p:nvSpPr>
        <p:spPr>
          <a:xfrm>
            <a:off x="2836506" y="3554963"/>
            <a:ext cx="3480318" cy="419878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DF0A98EC-ADD0-261D-7150-13E385931E76}"/>
              </a:ext>
            </a:extLst>
          </p:cNvPr>
          <p:cNvSpPr/>
          <p:nvPr/>
        </p:nvSpPr>
        <p:spPr>
          <a:xfrm>
            <a:off x="2836506" y="4436516"/>
            <a:ext cx="3480318" cy="419878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Frame 17">
            <a:extLst>
              <a:ext uri="{FF2B5EF4-FFF2-40B4-BE49-F238E27FC236}">
                <a16:creationId xmlns:a16="http://schemas.microsoft.com/office/drawing/2014/main" id="{6E2AA8F2-631A-6DE8-A267-A568BFA72209}"/>
              </a:ext>
            </a:extLst>
          </p:cNvPr>
          <p:cNvSpPr/>
          <p:nvPr/>
        </p:nvSpPr>
        <p:spPr>
          <a:xfrm>
            <a:off x="2836507" y="5235785"/>
            <a:ext cx="994348" cy="922040"/>
          </a:xfrm>
          <a:prstGeom prst="frame">
            <a:avLst>
              <a:gd name="adj1" fmla="val 43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9" name="Picture 2" descr="Sheraton Maldives Full Moon Resort &amp; Spa - North Malé Atoll | Marriott ...">
            <a:extLst>
              <a:ext uri="{FF2B5EF4-FFF2-40B4-BE49-F238E27FC236}">
                <a16:creationId xmlns:a16="http://schemas.microsoft.com/office/drawing/2014/main" id="{BE06E361-2FED-A4AE-C78B-764D6F925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0" r="37911" b="2"/>
          <a:stretch/>
        </p:blipFill>
        <p:spPr bwMode="auto">
          <a:xfrm>
            <a:off x="390486" y="1971130"/>
            <a:ext cx="6595530" cy="4433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0" descr="Vancouver Marriott Pinnacle Downtown Hotel | Downtown hotels, Hotel ...">
            <a:extLst>
              <a:ext uri="{FF2B5EF4-FFF2-40B4-BE49-F238E27FC236}">
                <a16:creationId xmlns:a16="http://schemas.microsoft.com/office/drawing/2014/main" id="{6A932BCE-01CB-E976-2B45-C885B1ECA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444" r="-1" b="7682"/>
          <a:stretch/>
        </p:blipFill>
        <p:spPr bwMode="auto">
          <a:xfrm>
            <a:off x="390485" y="1971129"/>
            <a:ext cx="6595529" cy="4433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43888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1414"/>
    </mc:Choice>
    <mc:Fallback>
      <p:transition spd="slow" advTm="14141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uiExpand="1" build="p"/>
      <p:bldP spid="9" grpId="0" animBg="1"/>
      <p:bldP spid="9" grpId="1" animBg="1"/>
      <p:bldP spid="12" grpId="0" animBg="1"/>
      <p:bldP spid="12" grpId="1" animBg="1"/>
      <p:bldP spid="13" grpId="0" animBg="1"/>
      <p:bldP spid="13" grpId="1" animBg="1"/>
      <p:bldP spid="15" grpId="0" animBg="1"/>
      <p:bldP spid="15" grpId="1" animBg="1"/>
      <p:bldP spid="16" grpId="0" animBg="1"/>
      <p:bldP spid="16" grpId="1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DEDE73-F702-51A9-C153-D0B1469C7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graph showing a line&#10;&#10;AI-generated content may be incorrect.">
            <a:extLst>
              <a:ext uri="{FF2B5EF4-FFF2-40B4-BE49-F238E27FC236}">
                <a16:creationId xmlns:a16="http://schemas.microsoft.com/office/drawing/2014/main" id="{5B165F9D-2C6F-FC35-9C06-84FD0E705F3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9035" b="1"/>
          <a:stretch/>
        </p:blipFill>
        <p:spPr>
          <a:xfrm>
            <a:off x="0" y="223440"/>
            <a:ext cx="5575177" cy="3064426"/>
          </a:xfrm>
          <a:prstGeom prst="rect">
            <a:avLst/>
          </a:prstGeom>
        </p:spPr>
      </p:pic>
      <p:pic>
        <p:nvPicPr>
          <p:cNvPr id="10" name="Content Placeholder 9" descr="A graph of a graph&#10;&#10;AI-generated content may be incorrect.">
            <a:extLst>
              <a:ext uri="{FF2B5EF4-FFF2-40B4-BE49-F238E27FC236}">
                <a16:creationId xmlns:a16="http://schemas.microsoft.com/office/drawing/2014/main" id="{E63694DC-439B-4100-A227-60BE1061059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rcRect l="2898" r="6136" b="1"/>
          <a:stretch/>
        </p:blipFill>
        <p:spPr>
          <a:xfrm>
            <a:off x="116541" y="3570134"/>
            <a:ext cx="5575177" cy="306442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390198-52E9-51BE-E034-65EBAF788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88" y="976160"/>
            <a:ext cx="5230368" cy="160244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/>
              <a:t>Initial EDA:</a:t>
            </a:r>
            <a:br>
              <a:rPr lang="en-US" sz="3100"/>
            </a:br>
            <a:r>
              <a:rPr lang="en-US" sz="3100"/>
              <a:t>Cancellation and Demand over Time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2D8A2490-8074-0B5C-9CEF-EFEC65C471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19088" y="2578608"/>
            <a:ext cx="5387430" cy="3767328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/>
            <a:r>
              <a:rPr lang="en-US" sz="2400" dirty="0"/>
              <a:t>Seasonality seen between Demand and Cancellations</a:t>
            </a:r>
          </a:p>
          <a:p>
            <a:pPr marL="560070" lvl="1" indent="-285750"/>
            <a:r>
              <a:rPr lang="en-US" sz="2000" dirty="0">
                <a:solidFill>
                  <a:srgbClr val="2C7E00"/>
                </a:solidFill>
              </a:rPr>
              <a:t>Peaks in October</a:t>
            </a:r>
          </a:p>
          <a:p>
            <a:pPr marL="560070" lvl="1" indent="-285750"/>
            <a:r>
              <a:rPr lang="en-US" sz="2000" dirty="0">
                <a:solidFill>
                  <a:srgbClr val="C00000"/>
                </a:solidFill>
              </a:rPr>
              <a:t>Valleys in January</a:t>
            </a:r>
          </a:p>
          <a:p>
            <a:pPr marL="560070" lvl="1" indent="-285750"/>
            <a:r>
              <a:rPr lang="en-US" sz="2000" dirty="0">
                <a:solidFill>
                  <a:schemeClr val="accent1"/>
                </a:solidFill>
              </a:rPr>
              <a:t>Increases in April</a:t>
            </a:r>
          </a:p>
        </p:txBody>
      </p:sp>
      <p:sp>
        <p:nvSpPr>
          <p:cNvPr id="4" name="Down Arrow 3">
            <a:extLst>
              <a:ext uri="{FF2B5EF4-FFF2-40B4-BE49-F238E27FC236}">
                <a16:creationId xmlns:a16="http://schemas.microsoft.com/office/drawing/2014/main" id="{68C6BE02-E2F4-DD98-BD8F-1EA9AD62F581}"/>
              </a:ext>
            </a:extLst>
          </p:cNvPr>
          <p:cNvSpPr/>
          <p:nvPr/>
        </p:nvSpPr>
        <p:spPr>
          <a:xfrm>
            <a:off x="904774" y="588715"/>
            <a:ext cx="202131" cy="519764"/>
          </a:xfrm>
          <a:prstGeom prst="downArrow">
            <a:avLst/>
          </a:prstGeom>
          <a:solidFill>
            <a:srgbClr val="60A5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>
            <a:extLst>
              <a:ext uri="{FF2B5EF4-FFF2-40B4-BE49-F238E27FC236}">
                <a16:creationId xmlns:a16="http://schemas.microsoft.com/office/drawing/2014/main" id="{027D4F06-1A7F-E859-A86F-BB71B6BBF961}"/>
              </a:ext>
            </a:extLst>
          </p:cNvPr>
          <p:cNvSpPr/>
          <p:nvPr/>
        </p:nvSpPr>
        <p:spPr>
          <a:xfrm>
            <a:off x="866273" y="3967621"/>
            <a:ext cx="202131" cy="519764"/>
          </a:xfrm>
          <a:prstGeom prst="downArrow">
            <a:avLst/>
          </a:prstGeom>
          <a:solidFill>
            <a:srgbClr val="60A5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own Arrow 5">
            <a:extLst>
              <a:ext uri="{FF2B5EF4-FFF2-40B4-BE49-F238E27FC236}">
                <a16:creationId xmlns:a16="http://schemas.microsoft.com/office/drawing/2014/main" id="{7E6C176B-8A7F-4DE5-57B2-0B22442A6DB2}"/>
              </a:ext>
            </a:extLst>
          </p:cNvPr>
          <p:cNvSpPr/>
          <p:nvPr/>
        </p:nvSpPr>
        <p:spPr>
          <a:xfrm>
            <a:off x="3456260" y="328833"/>
            <a:ext cx="202131" cy="519764"/>
          </a:xfrm>
          <a:prstGeom prst="downArrow">
            <a:avLst/>
          </a:prstGeom>
          <a:solidFill>
            <a:srgbClr val="60A5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FD64DAB0-9851-6F64-0DDB-777DDBA3C368}"/>
              </a:ext>
            </a:extLst>
          </p:cNvPr>
          <p:cNvSpPr/>
          <p:nvPr/>
        </p:nvSpPr>
        <p:spPr>
          <a:xfrm>
            <a:off x="3355195" y="3942508"/>
            <a:ext cx="202131" cy="519764"/>
          </a:xfrm>
          <a:prstGeom prst="downArrow">
            <a:avLst/>
          </a:prstGeom>
          <a:solidFill>
            <a:srgbClr val="60A5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46B1170B-410C-ACF7-84BF-50D30B88EAC8}"/>
              </a:ext>
            </a:extLst>
          </p:cNvPr>
          <p:cNvSpPr/>
          <p:nvPr/>
        </p:nvSpPr>
        <p:spPr>
          <a:xfrm>
            <a:off x="3848822" y="4462272"/>
            <a:ext cx="202131" cy="519764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own Arrow 14">
            <a:extLst>
              <a:ext uri="{FF2B5EF4-FFF2-40B4-BE49-F238E27FC236}">
                <a16:creationId xmlns:a16="http://schemas.microsoft.com/office/drawing/2014/main" id="{D097B721-8FF7-9E61-884C-059F2646E20E}"/>
              </a:ext>
            </a:extLst>
          </p:cNvPr>
          <p:cNvSpPr/>
          <p:nvPr/>
        </p:nvSpPr>
        <p:spPr>
          <a:xfrm>
            <a:off x="1480686" y="4722154"/>
            <a:ext cx="202131" cy="519764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8D902F3-B7A2-5AE4-462A-4033B671B3FE}"/>
              </a:ext>
            </a:extLst>
          </p:cNvPr>
          <p:cNvSpPr/>
          <p:nvPr/>
        </p:nvSpPr>
        <p:spPr>
          <a:xfrm>
            <a:off x="1480685" y="1289625"/>
            <a:ext cx="202131" cy="519764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820FBA9C-7B0A-9DC0-DFA4-324AC7EC011A}"/>
              </a:ext>
            </a:extLst>
          </p:cNvPr>
          <p:cNvSpPr/>
          <p:nvPr/>
        </p:nvSpPr>
        <p:spPr>
          <a:xfrm>
            <a:off x="3949887" y="912751"/>
            <a:ext cx="202131" cy="519764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>
            <a:extLst>
              <a:ext uri="{FF2B5EF4-FFF2-40B4-BE49-F238E27FC236}">
                <a16:creationId xmlns:a16="http://schemas.microsoft.com/office/drawing/2014/main" id="{28E49E36-3F36-8DFF-039F-FEE49F644B52}"/>
              </a:ext>
            </a:extLst>
          </p:cNvPr>
          <p:cNvSpPr/>
          <p:nvPr/>
        </p:nvSpPr>
        <p:spPr>
          <a:xfrm>
            <a:off x="2100642" y="4154934"/>
            <a:ext cx="202131" cy="519764"/>
          </a:xfrm>
          <a:prstGeom prst="down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>
            <a:extLst>
              <a:ext uri="{FF2B5EF4-FFF2-40B4-BE49-F238E27FC236}">
                <a16:creationId xmlns:a16="http://schemas.microsoft.com/office/drawing/2014/main" id="{63F5EC26-A36F-F5D6-262E-D0447FD6A36E}"/>
              </a:ext>
            </a:extLst>
          </p:cNvPr>
          <p:cNvSpPr/>
          <p:nvPr/>
        </p:nvSpPr>
        <p:spPr>
          <a:xfrm>
            <a:off x="4460571" y="679755"/>
            <a:ext cx="202131" cy="519764"/>
          </a:xfrm>
          <a:prstGeom prst="down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F36AC979-AA34-FE2E-5E9F-89C11DBAF6E8}"/>
              </a:ext>
            </a:extLst>
          </p:cNvPr>
          <p:cNvSpPr/>
          <p:nvPr/>
        </p:nvSpPr>
        <p:spPr>
          <a:xfrm>
            <a:off x="4456287" y="3967621"/>
            <a:ext cx="202131" cy="519764"/>
          </a:xfrm>
          <a:prstGeom prst="down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>
            <a:extLst>
              <a:ext uri="{FF2B5EF4-FFF2-40B4-BE49-F238E27FC236}">
                <a16:creationId xmlns:a16="http://schemas.microsoft.com/office/drawing/2014/main" id="{4EC06C82-445C-969A-4A7C-42AD84F59C88}"/>
              </a:ext>
            </a:extLst>
          </p:cNvPr>
          <p:cNvSpPr/>
          <p:nvPr/>
        </p:nvSpPr>
        <p:spPr>
          <a:xfrm>
            <a:off x="2101269" y="876701"/>
            <a:ext cx="202131" cy="519764"/>
          </a:xfrm>
          <a:prstGeom prst="down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311083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045"/>
    </mc:Choice>
    <mc:Fallback>
      <p:transition spd="slow" advTm="210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0FBA3A-5A7B-812E-46AB-48DAC545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DE284-D1D0-1795-BFBB-2F1D410ACA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9" y="971397"/>
            <a:ext cx="3462236" cy="1263724"/>
          </a:xfrm>
        </p:spPr>
        <p:txBody>
          <a:bodyPr anchor="t">
            <a:normAutofit/>
          </a:bodyPr>
          <a:lstStyle/>
          <a:p>
            <a:r>
              <a:rPr lang="en-US" sz="4400" dirty="0"/>
              <a:t>The </a:t>
            </a:r>
            <a:r>
              <a:rPr lang="en-US" sz="4000" dirty="0"/>
              <a:t>Dataset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B10248-273B-7BDD-06B7-98B6AEBA02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67" y="2312894"/>
            <a:ext cx="3462236" cy="3893586"/>
          </a:xfrm>
        </p:spPr>
        <p:txBody>
          <a:bodyPr anchor="t">
            <a:normAutofit/>
          </a:bodyPr>
          <a:lstStyle/>
          <a:p>
            <a:r>
              <a:rPr lang="en-US" dirty="0"/>
              <a:t>Important Columns:</a:t>
            </a:r>
          </a:p>
          <a:p>
            <a:pPr marL="342900" indent="-342900">
              <a:buFontTx/>
              <a:buChar char="-"/>
            </a:pPr>
            <a:r>
              <a:rPr lang="en-US" dirty="0" err="1">
                <a:solidFill>
                  <a:srgbClr val="FF0000"/>
                </a:solidFill>
              </a:rPr>
              <a:t>is_canceled</a:t>
            </a:r>
            <a:endParaRPr lang="en-US" dirty="0">
              <a:solidFill>
                <a:srgbClr val="FF000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dirty="0" err="1"/>
              <a:t>Arrival_date</a:t>
            </a:r>
            <a:r>
              <a:rPr lang="en-US" dirty="0"/>
              <a:t> (year, month, day of month)</a:t>
            </a:r>
          </a:p>
          <a:p>
            <a:pPr marL="342900" indent="-342900">
              <a:buFontTx/>
              <a:buChar char="-"/>
            </a:pPr>
            <a:r>
              <a:rPr lang="en-US" dirty="0" err="1"/>
              <a:t>Market_segment</a:t>
            </a:r>
            <a:endParaRPr lang="en-US" dirty="0"/>
          </a:p>
          <a:p>
            <a:pPr marL="342900" indent="-342900">
              <a:buFontTx/>
              <a:buChar char="-"/>
            </a:pPr>
            <a:r>
              <a:rPr lang="en-US" dirty="0" err="1"/>
              <a:t>Lead_time</a:t>
            </a:r>
            <a:endParaRPr lang="en-US" dirty="0"/>
          </a:p>
          <a:p>
            <a:pPr marL="342900" indent="-342900">
              <a:buFontTx/>
              <a:buChar char="-"/>
            </a:pPr>
            <a:r>
              <a:rPr lang="en-US" dirty="0" err="1"/>
              <a:t>Customer_type</a:t>
            </a:r>
            <a:endParaRPr lang="en-US" dirty="0"/>
          </a:p>
        </p:txBody>
      </p:sp>
      <p:pic>
        <p:nvPicPr>
          <p:cNvPr id="5" name="Picture 4" descr="A pie chart of a hotel&#10;&#10;AI-generated content may be incorrect.">
            <a:extLst>
              <a:ext uri="{FF2B5EF4-FFF2-40B4-BE49-F238E27FC236}">
                <a16:creationId xmlns:a16="http://schemas.microsoft.com/office/drawing/2014/main" id="{1D696FAB-A0CF-8D06-79EC-4FB045200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5465" y="508090"/>
            <a:ext cx="6086071" cy="56265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13199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795"/>
    </mc:Choice>
    <mc:Fallback>
      <p:transition spd="slow" advTm="177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86">
            <a:extLst>
              <a:ext uri="{FF2B5EF4-FFF2-40B4-BE49-F238E27FC236}">
                <a16:creationId xmlns:a16="http://schemas.microsoft.com/office/drawing/2014/main" id="{ADE57300-C7FF-4578-99A0-42B0295B1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B8F8250-7A81-4A19-87AD-FFB2CE4E3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99F38FC-2DEA-2647-C409-EF75720C1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3" name="Rectangle 92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11" name="Content Placeholder 10" descr="A graph showing a line&#10;&#10;AI-generated content may be incorrect.">
            <a:extLst>
              <a:ext uri="{FF2B5EF4-FFF2-40B4-BE49-F238E27FC236}">
                <a16:creationId xmlns:a16="http://schemas.microsoft.com/office/drawing/2014/main" id="{7D200640-CF05-7ABC-3B3B-02E9DB61CE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098" b="1"/>
          <a:stretch/>
        </p:blipFill>
        <p:spPr>
          <a:xfrm>
            <a:off x="517864" y="1863633"/>
            <a:ext cx="8687096" cy="44823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0F3791-3AD2-499A-8C67-C3E6FCB5B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5" y="976160"/>
            <a:ext cx="8686800" cy="8130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/>
              <a:t>Cancellation Percentages</a:t>
            </a:r>
          </a:p>
        </p:txBody>
      </p:sp>
      <p:sp>
        <p:nvSpPr>
          <p:cNvPr id="55" name="Content Placeholder 54">
            <a:extLst>
              <a:ext uri="{FF2B5EF4-FFF2-40B4-BE49-F238E27FC236}">
                <a16:creationId xmlns:a16="http://schemas.microsoft.com/office/drawing/2014/main" id="{FF72BFE7-9BCF-CE4B-308F-992742556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04665" y="1863632"/>
            <a:ext cx="2565994" cy="4482371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/>
              <a:t>High cancellation % overall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/>
              <a:t>Between 30-40% throughout the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/>
              <a:t>Identified large cancelled group bookings during EDA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5" y="508090"/>
            <a:ext cx="811123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E94EA6C1-5B73-CB10-F9FB-B671500C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8686800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3346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B31BF2-06C7-6402-716F-67F413268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ADE57300-C7FF-4578-99A0-42B0295B1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B8F8250-7A81-4A19-87AD-FFB2CE4E3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99F38FC-2DEA-2647-C409-EF75720C1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2CD0D193-B981-FE7D-7D46-D739C7E5B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Content Placeholder 10" descr="A graph of blue and orange lines&#10;&#10;AI-generated content may be incorrect.">
            <a:extLst>
              <a:ext uri="{FF2B5EF4-FFF2-40B4-BE49-F238E27FC236}">
                <a16:creationId xmlns:a16="http://schemas.microsoft.com/office/drawing/2014/main" id="{33F121DD-5DC0-3684-93F3-55D3F79899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65" r="3436"/>
          <a:stretch/>
        </p:blipFill>
        <p:spPr>
          <a:xfrm>
            <a:off x="402667" y="3429000"/>
            <a:ext cx="4998915" cy="27476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98C1475-A002-C15A-596C-8F9200A6D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88" y="976160"/>
            <a:ext cx="5230368" cy="1090389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3200"/>
              <a:t>Demand and Cancellation by Hotel Type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00AD9F64-BF72-F79E-29E5-C2B88532D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19088" y="2465294"/>
            <a:ext cx="5230368" cy="388064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800"/>
              <a:t>City Hotel: </a:t>
            </a:r>
          </a:p>
          <a:p>
            <a:pPr marL="560070" lvl="1" indent="-285750"/>
            <a:r>
              <a:rPr lang="en-US" sz="1600"/>
              <a:t>Higher demand and cancellations</a:t>
            </a:r>
          </a:p>
          <a:p>
            <a:pPr marL="560070" lvl="1" indent="-285750"/>
            <a:r>
              <a:rPr lang="en-US" sz="1600"/>
              <a:t>Larger peaks and valleys</a:t>
            </a:r>
          </a:p>
          <a:p>
            <a:pPr marL="560070" lvl="1" indent="-285750"/>
            <a:r>
              <a:rPr lang="en-US" sz="1600"/>
              <a:t>Likely influences the overall datasets trends</a:t>
            </a:r>
          </a:p>
          <a:p>
            <a:pPr marL="285750" indent="-285750"/>
            <a:r>
              <a:rPr lang="en-US" sz="1800"/>
              <a:t>Cancellation Trends:</a:t>
            </a:r>
          </a:p>
          <a:p>
            <a:pPr marL="560070" lvl="1" indent="-285750"/>
            <a:r>
              <a:rPr lang="en-US" sz="1600"/>
              <a:t>City hotels have corporate travelers</a:t>
            </a:r>
          </a:p>
          <a:p>
            <a:pPr marL="560070" lvl="1" indent="-285750"/>
            <a:r>
              <a:rPr lang="en-US" sz="1600"/>
              <a:t>Last minute cancellations and bookings</a:t>
            </a:r>
          </a:p>
          <a:p>
            <a:pPr marL="560070" lvl="1" indent="-285750"/>
            <a:r>
              <a:rPr lang="en-US" sz="1600"/>
              <a:t>Resort hotels have mainly leisure guests</a:t>
            </a:r>
          </a:p>
          <a:p>
            <a:pPr marL="285750" indent="-285750"/>
            <a:endParaRPr lang="en-US" sz="18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435763-D116-E6B0-3992-6801EF0F0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7376" y="508090"/>
            <a:ext cx="523036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Content Placeholder 22" descr="A graph of red and blue lines&#10;&#10;AI-generated content may be incorrect.">
            <a:extLst>
              <a:ext uri="{FF2B5EF4-FFF2-40B4-BE49-F238E27FC236}">
                <a16:creationId xmlns:a16="http://schemas.microsoft.com/office/drawing/2014/main" id="{85E60481-22BC-9ABF-C25B-13E4CE81E5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29484" y="0"/>
            <a:ext cx="6257364" cy="3128682"/>
          </a:xfrm>
        </p:spPr>
      </p:pic>
    </p:spTree>
    <p:extLst>
      <p:ext uri="{BB962C8B-B14F-4D97-AF65-F5344CB8AC3E}">
        <p14:creationId xmlns:p14="http://schemas.microsoft.com/office/powerpoint/2010/main" val="2721590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5350FC-29C2-3D7F-53B9-323057D12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BE147-FE32-F75F-FF53-62A70B21A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/>
              <a:t>Customer Type</a:t>
            </a:r>
            <a:endParaRPr lang="en-US" sz="44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7" name="Picture 6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9A5012C7-80C8-FA8B-711B-6DDFD4A5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79" y="2052736"/>
            <a:ext cx="5323096" cy="4666494"/>
          </a:xfrm>
          <a:prstGeom prst="rect">
            <a:avLst/>
          </a:prstGeom>
        </p:spPr>
      </p:pic>
      <p:sp>
        <p:nvSpPr>
          <p:cNvPr id="55" name="Content Placeholder 54">
            <a:extLst>
              <a:ext uri="{FF2B5EF4-FFF2-40B4-BE49-F238E27FC236}">
                <a16:creationId xmlns:a16="http://schemas.microsoft.com/office/drawing/2014/main" id="{638AC8C0-AD38-1CC8-F0B8-78FEADC97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7224" y="1088136"/>
            <a:ext cx="4160520" cy="5257800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Combined Transient and Transient-Party customer types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Removed Group and Contract rows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Group and Contract patterns are very different than Transient</a:t>
            </a:r>
          </a:p>
        </p:txBody>
      </p:sp>
      <p:sp>
        <p:nvSpPr>
          <p:cNvPr id="8" name="Left-Right Arrow 7">
            <a:extLst>
              <a:ext uri="{FF2B5EF4-FFF2-40B4-BE49-F238E27FC236}">
                <a16:creationId xmlns:a16="http://schemas.microsoft.com/office/drawing/2014/main" id="{0D701375-C37C-9688-B005-158F61902701}"/>
              </a:ext>
            </a:extLst>
          </p:cNvPr>
          <p:cNvSpPr/>
          <p:nvPr/>
        </p:nvSpPr>
        <p:spPr>
          <a:xfrm>
            <a:off x="2261937" y="5265020"/>
            <a:ext cx="462012" cy="154004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791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439351-8FE4-7E9B-E462-FEF73C6A1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27FDB85-EB25-316C-43EF-D2DDF7878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513644F2-A960-F864-33EC-7905312E3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04C44D-034E-5370-ED72-00E08E4B8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Model Comparisons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74DB884-5899-7635-4AEE-1E6A971887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5DC9276-BF41-5252-D623-98D254585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55" name="Content Placeholder 54">
            <a:extLst>
              <a:ext uri="{FF2B5EF4-FFF2-40B4-BE49-F238E27FC236}">
                <a16:creationId xmlns:a16="http://schemas.microsoft.com/office/drawing/2014/main" id="{5C025BA5-EDF9-DE77-DC42-B8B93688B5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7224" y="1088136"/>
            <a:ext cx="4160520" cy="5257800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Logistic Regression model outperformed Random Forest models in all metrics</a:t>
            </a:r>
            <a:endParaRPr lang="en-US" sz="18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</a:rPr>
              <a:t>Low Precision:</a:t>
            </a:r>
          </a:p>
          <a:p>
            <a:pPr marL="560070" lvl="1" indent="-22860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Walking the guest + guest dissatisfaction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</a:rPr>
              <a:t>Low Recall:</a:t>
            </a:r>
          </a:p>
          <a:p>
            <a:pPr marL="560070" lvl="1" indent="-22860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More unsold rooms</a:t>
            </a:r>
          </a:p>
          <a:p>
            <a:pPr marL="34290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anose="020B0604020202020204" pitchFamily="34" charset="0"/>
              </a:rPr>
              <a:t>Hotel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A: Next closest hotel is far away</a:t>
            </a:r>
          </a:p>
          <a:p>
            <a:pPr marL="617220" lvl="1" indent="-28575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Prioritize Precision to not walk</a:t>
            </a:r>
          </a:p>
          <a:p>
            <a:pPr marL="34290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Hotel B: Centrally located in a big city</a:t>
            </a:r>
          </a:p>
          <a:p>
            <a:pPr marL="617220" lvl="1" indent="-285750"/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Prioritize Recall to maximize selling out</a:t>
            </a:r>
          </a:p>
          <a:p>
            <a:pPr marL="57150"/>
            <a:endParaRPr lang="en-US" sz="14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0005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E783835-41DF-9908-0504-AA8A5D965CBF}"/>
              </a:ext>
            </a:extLst>
          </p:cNvPr>
          <p:cNvGraphicFramePr>
            <a:graphicFrameLocks noGrp="1"/>
          </p:cNvGraphicFramePr>
          <p:nvPr/>
        </p:nvGraphicFramePr>
        <p:xfrm>
          <a:off x="612648" y="2543233"/>
          <a:ext cx="6281929" cy="3614593"/>
        </p:xfrm>
        <a:graphic>
          <a:graphicData uri="http://schemas.openxmlformats.org/drawingml/2006/table">
            <a:tbl>
              <a:tblPr firstRow="1" firstCol="1" bandRow="1">
                <a:solidFill>
                  <a:schemeClr val="bg1">
                    <a:lumMod val="95000"/>
                  </a:schemeClr>
                </a:solidFill>
                <a:tableStyleId>{5C22544A-7EE6-4342-B048-85BDC9FD1C3A}</a:tableStyleId>
              </a:tblPr>
              <a:tblGrid>
                <a:gridCol w="1374117">
                  <a:extLst>
                    <a:ext uri="{9D8B030D-6E8A-4147-A177-3AD203B41FA5}">
                      <a16:colId xmlns:a16="http://schemas.microsoft.com/office/drawing/2014/main" val="2792630484"/>
                    </a:ext>
                  </a:extLst>
                </a:gridCol>
                <a:gridCol w="2716253">
                  <a:extLst>
                    <a:ext uri="{9D8B030D-6E8A-4147-A177-3AD203B41FA5}">
                      <a16:colId xmlns:a16="http://schemas.microsoft.com/office/drawing/2014/main" val="2816371424"/>
                    </a:ext>
                  </a:extLst>
                </a:gridCol>
                <a:gridCol w="2191559">
                  <a:extLst>
                    <a:ext uri="{9D8B030D-6E8A-4147-A177-3AD203B41FA5}">
                      <a16:colId xmlns:a16="http://schemas.microsoft.com/office/drawing/2014/main" val="382949225"/>
                    </a:ext>
                  </a:extLst>
                </a:gridCol>
              </a:tblGrid>
              <a:tr h="527488"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Metric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Logistic Regression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300" b="0" i="0" u="sng" strike="noStrike" cap="none" spc="0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Random Forest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847169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Train Score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95.50%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88.90%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6805445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Test Score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95.42%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88.30%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614446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Train AUC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99.30%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95.40%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66690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Test AUC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99.20%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94.70%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070807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l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f1-score: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93%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84%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6011675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r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100%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88%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8555692"/>
                  </a:ext>
                </a:extLst>
              </a:tr>
              <a:tr h="441015">
                <a:tc>
                  <a:txBody>
                    <a:bodyPr/>
                    <a:lstStyle/>
                    <a:p>
                      <a:pPr algn="r" fontAlgn="b"/>
                      <a:r>
                        <a:rPr lang="en-US" sz="1700" b="1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Recall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rgbClr val="2C7E00"/>
                          </a:solidFill>
                          <a:effectLst/>
                          <a:latin typeface="+mn-lt"/>
                        </a:rPr>
                        <a:t>87%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79%</a:t>
                      </a:r>
                    </a:p>
                  </a:txBody>
                  <a:tcPr marL="13511" marR="13511" marT="12971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5331519"/>
                  </a:ext>
                </a:extLst>
              </a:tr>
            </a:tbl>
          </a:graphicData>
        </a:graphic>
      </p:graphicFrame>
      <p:sp>
        <p:nvSpPr>
          <p:cNvPr id="9" name="Left Arrow 8">
            <a:extLst>
              <a:ext uri="{FF2B5EF4-FFF2-40B4-BE49-F238E27FC236}">
                <a16:creationId xmlns:a16="http://schemas.microsoft.com/office/drawing/2014/main" id="{03A37654-6DC0-75E7-7ED1-93B87126ABF8}"/>
              </a:ext>
            </a:extLst>
          </p:cNvPr>
          <p:cNvSpPr/>
          <p:nvPr/>
        </p:nvSpPr>
        <p:spPr>
          <a:xfrm rot="10800000">
            <a:off x="49486" y="4995930"/>
            <a:ext cx="513675" cy="239855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Left Arrow 11">
            <a:extLst>
              <a:ext uri="{FF2B5EF4-FFF2-40B4-BE49-F238E27FC236}">
                <a16:creationId xmlns:a16="http://schemas.microsoft.com/office/drawing/2014/main" id="{F1519987-6D62-F237-A2EE-7D6F878004FD}"/>
              </a:ext>
            </a:extLst>
          </p:cNvPr>
          <p:cNvSpPr/>
          <p:nvPr/>
        </p:nvSpPr>
        <p:spPr>
          <a:xfrm rot="10800000">
            <a:off x="194747" y="5433205"/>
            <a:ext cx="629017" cy="239855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2DA37C7A-07FE-D682-8CB4-5571A66E717D}"/>
              </a:ext>
            </a:extLst>
          </p:cNvPr>
          <p:cNvSpPr/>
          <p:nvPr/>
        </p:nvSpPr>
        <p:spPr>
          <a:xfrm rot="10800000">
            <a:off x="209746" y="5870481"/>
            <a:ext cx="629017" cy="239854"/>
          </a:xfrm>
          <a:prstGeom prst="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33873827-3EE1-18C9-7529-BDEB38BA13DB}"/>
              </a:ext>
            </a:extLst>
          </p:cNvPr>
          <p:cNvSpPr/>
          <p:nvPr/>
        </p:nvSpPr>
        <p:spPr>
          <a:xfrm>
            <a:off x="2836506" y="3554963"/>
            <a:ext cx="3480318" cy="419878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8DC81BCE-8B4D-65A6-04D6-C2D4321CF36E}"/>
              </a:ext>
            </a:extLst>
          </p:cNvPr>
          <p:cNvSpPr/>
          <p:nvPr/>
        </p:nvSpPr>
        <p:spPr>
          <a:xfrm>
            <a:off x="2836506" y="4436516"/>
            <a:ext cx="3480318" cy="419878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Frame 17">
            <a:extLst>
              <a:ext uri="{FF2B5EF4-FFF2-40B4-BE49-F238E27FC236}">
                <a16:creationId xmlns:a16="http://schemas.microsoft.com/office/drawing/2014/main" id="{47C7013F-ECB2-F77C-61EB-7ACE4BC6ACF7}"/>
              </a:ext>
            </a:extLst>
          </p:cNvPr>
          <p:cNvSpPr/>
          <p:nvPr/>
        </p:nvSpPr>
        <p:spPr>
          <a:xfrm>
            <a:off x="2836507" y="5235785"/>
            <a:ext cx="994348" cy="922040"/>
          </a:xfrm>
          <a:prstGeom prst="frame">
            <a:avLst>
              <a:gd name="adj1" fmla="val 43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0752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414"/>
    </mc:Choice>
    <mc:Fallback xmlns="">
      <p:transition spd="slow" advTm="14141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uiExpand="1" build="p"/>
      <p:bldP spid="9" grpId="0" animBg="1"/>
      <p:bldP spid="9" grpId="1" animBg="1"/>
      <p:bldP spid="12" grpId="0" animBg="1"/>
      <p:bldP spid="12" grpId="1" animBg="1"/>
      <p:bldP spid="13" grpId="0" animBg="1"/>
      <p:bldP spid="13" grpId="1" animBg="1"/>
      <p:bldP spid="15" grpId="0" animBg="1"/>
      <p:bldP spid="15" grpId="1" animBg="1"/>
      <p:bldP spid="16" grpId="0" animBg="1"/>
      <p:bldP spid="16" grpId="1" animBg="1"/>
      <p:bldP spid="1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48EA63-23F4-57DE-87B7-6E0ABD4B9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86">
            <a:extLst>
              <a:ext uri="{FF2B5EF4-FFF2-40B4-BE49-F238E27FC236}">
                <a16:creationId xmlns:a16="http://schemas.microsoft.com/office/drawing/2014/main" id="{0789A3B1-398A-0AB9-E4A0-17415C23A9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C6ACAAA2-80D2-A15D-3C87-8FE6D86E6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618F80-B8F0-E1BC-9C65-95E310482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93" name="Rectangle 92">
            <a:extLst>
              <a:ext uri="{FF2B5EF4-FFF2-40B4-BE49-F238E27FC236}">
                <a16:creationId xmlns:a16="http://schemas.microsoft.com/office/drawing/2014/main" id="{38C2C536-7B0F-4E63-3504-738B98344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15F591-E64A-E114-3DAC-B646CAC4A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5" y="976160"/>
            <a:ext cx="8686800" cy="8130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 dirty="0"/>
              <a:t>Important Features</a:t>
            </a:r>
          </a:p>
        </p:txBody>
      </p:sp>
      <p:sp>
        <p:nvSpPr>
          <p:cNvPr id="55" name="Content Placeholder 54">
            <a:extLst>
              <a:ext uri="{FF2B5EF4-FFF2-40B4-BE49-F238E27FC236}">
                <a16:creationId xmlns:a16="http://schemas.microsoft.com/office/drawing/2014/main" id="{3D346ACF-116F-B498-6C38-5607A83F1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541041" y="976160"/>
            <a:ext cx="2229617" cy="5369843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AD9123C-04AE-9370-164A-27A96C6041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5" y="508090"/>
            <a:ext cx="811123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28077975-36B2-9BC4-339E-AA6675CA8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8686800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A graph of different sizes and shapes&#10;&#10;AI-generated content may be incorrect.">
            <a:extLst>
              <a:ext uri="{FF2B5EF4-FFF2-40B4-BE49-F238E27FC236}">
                <a16:creationId xmlns:a16="http://schemas.microsoft.com/office/drawing/2014/main" id="{5EA661C5-24A0-9F36-211A-3FA3B1E66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492" y="1789223"/>
            <a:ext cx="8923173" cy="4533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251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721CDF-6FAD-BA70-3287-904232D2D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0C0E4-5713-F067-19BF-28E808CDF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5" y="976160"/>
            <a:ext cx="8686800" cy="8130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 dirty="0"/>
              <a:t>SHAP Values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2B7615A-9A1F-E8D4-47A8-6BA903094A7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23798" y="548515"/>
            <a:ext cx="4957010" cy="5899539"/>
          </a:xfrm>
        </p:spPr>
      </p:pic>
    </p:spTree>
    <p:extLst>
      <p:ext uri="{BB962C8B-B14F-4D97-AF65-F5344CB8AC3E}">
        <p14:creationId xmlns:p14="http://schemas.microsoft.com/office/powerpoint/2010/main" val="2499871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1944363-BB7C-8E7B-A6D0-D2CB9E021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F64D2-E769-6BC7-178A-7C1EF15D0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5" y="976160"/>
            <a:ext cx="8686800" cy="81306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 dirty="0"/>
              <a:t>Random Forest Confusion Matrix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A31E894-0DFD-C13B-CDE1-6E3B581C3D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2771211" y="1628658"/>
            <a:ext cx="6007030" cy="5085866"/>
          </a:xfrm>
        </p:spPr>
      </p:pic>
    </p:spTree>
    <p:extLst>
      <p:ext uri="{BB962C8B-B14F-4D97-AF65-F5344CB8AC3E}">
        <p14:creationId xmlns:p14="http://schemas.microsoft.com/office/powerpoint/2010/main" val="596065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2|18|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6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5|4.4|3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5|4.8|24.6|5.6|28.6|17.2|13.4|35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5|4.4|3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5|4.4|3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2|5.6|6.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5|4.8|24.6|5.6|28.6|17.2|13.4|35.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5|4.4|3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5|4.8|24.6|5.6|28.6|17.2|13.4|35.4"/>
</p:tagLst>
</file>

<file path=ppt/theme/theme1.xml><?xml version="1.0" encoding="utf-8"?>
<a:theme xmlns:a="http://schemas.openxmlformats.org/drawingml/2006/main" name="GestaltVTI">
  <a:themeElements>
    <a:clrScheme name="Custom 86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Bierstad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4299</TotalTime>
  <Words>3156</Words>
  <Application>Microsoft Macintosh PowerPoint</Application>
  <PresentationFormat>Widescreen</PresentationFormat>
  <Paragraphs>459</Paragraphs>
  <Slides>20</Slides>
  <Notes>19</Notes>
  <HiddenSlides>10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Bierstadt</vt:lpstr>
      <vt:lpstr>Hanken Grotesk</vt:lpstr>
      <vt:lpstr>Menlo</vt:lpstr>
      <vt:lpstr>GestaltVTI</vt:lpstr>
      <vt:lpstr>Hotel Cancellation Forecast</vt:lpstr>
      <vt:lpstr>The Hotel Industry   </vt:lpstr>
      <vt:lpstr>How Machine Learning Can Help</vt:lpstr>
      <vt:lpstr>The Dataset</vt:lpstr>
      <vt:lpstr>Obstacles</vt:lpstr>
      <vt:lpstr>Model Comparisons</vt:lpstr>
      <vt:lpstr>Feature Importance</vt:lpstr>
      <vt:lpstr>Error Analysis: Lead Time Distribution</vt:lpstr>
      <vt:lpstr>Next Steps</vt:lpstr>
      <vt:lpstr>Thank You</vt:lpstr>
      <vt:lpstr>Model Comparisons</vt:lpstr>
      <vt:lpstr>Initial EDA: Cancellation and Demand over Time</vt:lpstr>
      <vt:lpstr>The Dataset</vt:lpstr>
      <vt:lpstr>Cancellation Percentages</vt:lpstr>
      <vt:lpstr>Demand and Cancellation by Hotel Type</vt:lpstr>
      <vt:lpstr>Customer Type</vt:lpstr>
      <vt:lpstr>Model Comparisons</vt:lpstr>
      <vt:lpstr>Important Features</vt:lpstr>
      <vt:lpstr>SHAP Values </vt:lpstr>
      <vt:lpstr>Random Forest Confusion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Brian Lui</dc:creator>
  <cp:lastModifiedBy>Brian Lui</cp:lastModifiedBy>
  <cp:revision>11</cp:revision>
  <dcterms:created xsi:type="dcterms:W3CDTF">2025-02-27T06:39:56Z</dcterms:created>
  <dcterms:modified xsi:type="dcterms:W3CDTF">2025-04-04T05:58:46Z</dcterms:modified>
</cp:coreProperties>
</file>