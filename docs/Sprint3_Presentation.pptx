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2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20"/>
  </p:notesMasterIdLst>
  <p:sldIdLst>
    <p:sldId id="256" r:id="rId2"/>
    <p:sldId id="262" r:id="rId3"/>
    <p:sldId id="265" r:id="rId4"/>
    <p:sldId id="257" r:id="rId5"/>
    <p:sldId id="270" r:id="rId6"/>
    <p:sldId id="267" r:id="rId7"/>
    <p:sldId id="275" r:id="rId8"/>
    <p:sldId id="276" r:id="rId9"/>
    <p:sldId id="260" r:id="rId10"/>
    <p:sldId id="266" r:id="rId11"/>
    <p:sldId id="273" r:id="rId12"/>
    <p:sldId id="272" r:id="rId13"/>
    <p:sldId id="274" r:id="rId14"/>
    <p:sldId id="263" r:id="rId15"/>
    <p:sldId id="259" r:id="rId16"/>
    <p:sldId id="268" r:id="rId17"/>
    <p:sldId id="271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671BDB-F464-0F48-93DD-03054374103C}">
          <p14:sldIdLst>
            <p14:sldId id="256"/>
            <p14:sldId id="262"/>
            <p14:sldId id="265"/>
            <p14:sldId id="257"/>
            <p14:sldId id="270"/>
            <p14:sldId id="267"/>
            <p14:sldId id="275"/>
            <p14:sldId id="276"/>
            <p14:sldId id="260"/>
            <p14:sldId id="266"/>
          </p14:sldIdLst>
        </p14:section>
        <p14:section name="Appendix" id="{CC5CF159-B9AE-8249-86FA-7D0E49288067}">
          <p14:sldIdLst>
            <p14:sldId id="273"/>
            <p14:sldId id="272"/>
            <p14:sldId id="274"/>
            <p14:sldId id="263"/>
            <p14:sldId id="259"/>
            <p14:sldId id="268"/>
            <p14:sldId id="271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2C7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8"/>
    <p:restoredTop sz="49957"/>
  </p:normalViewPr>
  <p:slideViewPr>
    <p:cSldViewPr snapToGrid="0">
      <p:cViewPr varScale="1">
        <p:scale>
          <a:sx n="99" d="100"/>
          <a:sy n="99" d="100"/>
        </p:scale>
        <p:origin x="5704" y="176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55" d="100"/>
          <a:sy n="155" d="100"/>
        </p:scale>
        <p:origin x="684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D6AB2-D519-5E47-80FC-107ADA150C1A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21CBD-D301-674F-94E8-EF9AD1ED13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729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my capstone project:</a:t>
            </a:r>
          </a:p>
          <a:p>
            <a:r>
              <a:rPr lang="en-US" dirty="0"/>
              <a:t>Hotel Demand and Cancellation Forecast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6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Have you ever wondered how managing a hotel works?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might think they just need to sell as many rooms as possible every day..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 What if they sell too many or what if they don’t sell them all?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That's the challenge hotels 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this…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 hotel has limited perishable inventory.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Unlike in other industries such as retail, inventory cannot be carried over the next day to be sold.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Any rooms that are left unsold is lost revenue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Why would they oversell more than they have?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Have you ever booked a hotel, but at some point your plans changed?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Hotels need to account for that, so they sometimes sell more rooms than they have left.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they are just reactive to a cancellation, they risk having unsold rooms left.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But...what if they end the day oversold? The hotel loses more than just money..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Guests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get refunded and depending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 the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hotel’s policy: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have to pay for a “comparable” hotel room, transportation costs, and risk damaging their reputation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a hotel can accurately predict the final number of guests for each day, it allows them to maximize revenue and help operations teams properly staff their hotel.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part of Revenue Management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817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of a revenue managers goals is:</a:t>
            </a:r>
            <a:endParaRPr lang="en-U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Reaching a “perfect sell”.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means not finishing the day with any rooms unsold.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One of the biggest contributors to reaching that perfect sell are room cancellations.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We can utilize ML models to predict if a reservation will cancellation based on patterns from historical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is a binary classification problem that can be explored with classification models like logistic regression or random forest.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64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my dataset, some seemingly important columns surfaced, but my main focus was 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Is canceled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i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There is a minor target imbalance in my data as there were:</a:t>
            </a:r>
            <a:endParaRPr lang="en-US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over </a:t>
            </a:r>
            <a:r>
              <a:rPr lang="en-US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119,000 reservations available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And of those, 44,000 Reservation cancelled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2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4C245-C7CA-AB03-0603-700460F7C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0B0EF-57B1-28CB-CB02-FFC98616E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201AC-506E-AC88-FEB4-DBCA2EB21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My initial EDA led me to look at: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Demand(bookings) over time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Cancellations over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 could see that seasonality was visible for both Demand and Cancellations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Peaks in October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Valleys in January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 Goes back up in April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Only 2 years of data, but this looks like a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3DB4D-26D0-F096-1D41-3B1EC26E6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06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9F0F-5FE3-20D7-10A6-F4BB2D2F5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1D861-034D-43DA-DEB6-7FE58F8AC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7AD8E-0D92-D889-7FFA-45C63D0E7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random forest model only is marginally lower in accuracy by 4%, AUC by ~3%, and F1-score by 6%. </a:t>
            </a:r>
          </a:p>
          <a:p>
            <a:pPr>
              <a:lnSpc>
                <a:spcPts val="1350"/>
              </a:lnSpc>
              <a:buNone/>
            </a:pPr>
            <a:endParaRPr lang="en-US" sz="16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 model that has higher overfitting is tailoring itself too closely to the training data and therefore may not perform as well on unseen data. </a:t>
            </a:r>
          </a:p>
          <a:p>
            <a:pPr>
              <a:lnSpc>
                <a:spcPts val="1350"/>
              </a:lnSpc>
              <a:buNone/>
            </a:pP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 could lead to unreliable predictions.</a:t>
            </a:r>
          </a:p>
          <a:p>
            <a:pPr>
              <a:lnSpc>
                <a:spcPts val="1350"/>
              </a:lnSpc>
            </a:pPr>
            <a:b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However, it has much less overfitting and suggest that it will likely perform more consistently on new data.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 was to have the least overfitted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less overfitting ensures dependable performance across diverse datasets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Therefore, based on the overfitting between the two models, although 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XGBoost</a:t>
            </a:r>
            <a:r>
              <a:rPr lang="en-US" sz="11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had a higher F1 score, accuracy, and AUC scores, it is overfitting more across all metrics compared to the random forest model.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89507-DA7A-9969-9637-D6C38F10B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0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6840B-C65A-20CB-7243-371028D09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06D99-A84B-5DA9-F42A-5BA96647B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3FCC7-6D7F-9BE5-3F85-CBC910EF0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most important feature in our Random Forest model is 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total_of_special_requests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with an importance over 20%. </a:t>
            </a: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How Permutation Importance is determined evaluating when a feature's information is manipulated, the increases the model's error.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24002-FFDA-E10B-6BCB-BB212369A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18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4F40-4B6F-84D4-41F0-32903BD6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17EFE-0D56-1FC1-3F1D-833599591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6D239-04FD-D813-2C5C-55A991262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When looking at the Lead Time distribution, the Mean of True Positives are above 100 days whereas the mean for False Positives are below 100 days. 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 suggests that the model struggles with reservations that have shorter lead times (&lt;100 days). </a:t>
            </a:r>
          </a:p>
          <a:p>
            <a:pPr>
              <a:lnSpc>
                <a:spcPts val="1350"/>
              </a:lnSpc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This indicates that the feature lead time may play a role in the models distinguishing true positives from false positives.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749F3-3531-F6DD-B908-1C33C2480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62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For for my next steps: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Since my model appears to struggle with False Positives for shorter lead times,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may want to resample the data to ensure there are sufficient number of reservations with lead times under 100 days. I can also explore feature engineering by binning the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lead_time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feature into buckets to help the model better learn patterns for short durations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Explore Time Series Forecasting with Demand to provide a well rounded prediction model for total hotel occupancy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And I want to continue to optimize hyperparameters for all models before making a final decision on a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05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7B2F-8705-5A5E-DE6F-C08E8D12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7EC165-78FF-CD2B-A57D-72A5C6A5A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CFA1E4-E298-A467-CD79-824568875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two classification models I’ve run on this dataset were Logistic Regression and Random Forest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 Logistic Regression model outperformed Random Forest in all metrics (see the green)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There are a lot of metrics here, and they’re all important like the Test score and AUC Scores, but I want to focus on a metric that is more important to the business.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That's the f1-score </a:t>
            </a:r>
            <a:endParaRPr lang="en-US" sz="12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F1 score </a:t>
            </a:r>
            <a:r>
              <a:rPr lang="en-US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 the balance between Precision and Recall and the two generally have a see-saw relationship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 help understand this, lets look at the Logistic Regression model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Precision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reservations the model said were going to cancel, 100% of them actually cancelled (Note this value was rounded).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Recall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cancelled reservations, the model was able to correctly identify 87% of them.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which is more important, Precision or Recall?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What happens with Lower Precision: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incorrectly predict a reservation will cancel, we may end up selling that room again in anticipation of that first guest not showing up.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leads to costs of walking the guest + guest dissatisfaction.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And with Low Recall: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miss predicting that a reservation would cancel, we'll have unsold rooms, which will be lost revenue.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 example: There is a hotel that is always selling out and hovers around the ~100% occupancy: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If the hotel knows that the next closest property is 30 miles away or maybe they're a resort in the Maldives and the closest property is on another island...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want to prioritize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(correctly predicting a reservation will cancel), so that they don’t end up overselling their hotel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However, if the hotel in the heart of NYC and there are hundreds of properties near by, they may favor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recall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(making sure they catch all cancellations correctly)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be willing to risk overselling to maximize revenue and ensure they sell all of their rooms.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C39E8-BFB3-F8C1-5B10-A3B56C00F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56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C997-FD07-90B8-10F8-B80D9241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43BAE-CCA5-DDE6-0778-D504B9D7A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1D50F-B16D-85DF-C2DF-EB7F101CD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My initial EDA led me to look at: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Demand(bookings) over time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Weekly Cancellations over time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 could see that seasonality was visible for both Demand and Cancellations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Peaks in October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&lt;CLICK&gt; Valleys in January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&lt;CLICK&gt; Goes back up in April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Only 2 years of data, but this looks like a trend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0ECFA-E6B5-405E-A37A-A59C2AB17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67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50B91-B3FA-5EBF-C69F-9995B02EF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1F7CC-C154-D67C-F9A2-BF47414EA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395B1-A288-9F33-643F-89EDD8299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my dataset there are 2 hotels, a City and Resort hotel in Portugal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City hotel has over 79,000 reservations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Resort hotel has 40,060 reservations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After my initial look at the dataset, some important columns surfaced, but my main focus was 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Is canceled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A90AA-C1A4-9493-B316-0BEDB0BE66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774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Looking at cancellation percentages: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It reaches almost 50%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stays between 30-40% throughout the dataset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This looked high to me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In my EDA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Some reservations in the dataset were large group bookings that all cancelled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Because of this, I wondered if I should isolate purely transient bookings to see if results will vary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284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When I dove deeper to look at Demand and Cancellation by Hotel Type, I noticed: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 City Hotel  (Blue Lines)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has higher demand and cancellations compared to the Resort Hotel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has larger peaks and valleys compared resort hotel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The peaks and valleys we saw before, are most likely influenced by the city hotel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/>
              <a:t>The cancellation trends are reasonable because: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City hotels have tend to have higher corporate travelers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Last minute changes to bookings based on needs are frequent, so increased cancellations are expected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This holds true for demand as well, last minute needs to travel generates spikes in demand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/>
              <a:t>Resort hotels target mainly leisure guests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When you’re traveling for vacation, you plan months or even years ahead.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/>
              <a:t>It will take a lot more for you to cancel your travel plans compared to for a business trip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959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9D294-5C9C-B212-1E3C-2A91BB41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0A0EA-3BAA-9D28-2D41-0CFE0B52D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94B10-7F18-F8C3-415A-42B0BCF56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During Feature Engineering I combined the two Transient customer types because the only difference was if these customers booked together as a party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Also, since there were very few group and contract in the dataset,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 removed those two customer types.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And my experience in my past roles using revenue management systems, Group and Contract forecasts are very different and much harder to predict compared to transient demand.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Therefore, I decided to focus only on transient customer types for simplicity and clarity.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61901-B2F9-5324-F713-1686914B4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664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FAA5A-12C2-0A70-EFF6-AB78FCB1D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409AA-DA32-80E1-F854-3FB0EF9AA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DECE4-A465-D4B3-C5FA-06B115DC7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 two classification models I’ve run on this dataset were Logistic Regression and Random Forest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The Logistic Regression model outperformed Random Forest in all metrics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Let's look at Test and AUC scores first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Test Scores are the model’s accuracy in making predictions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While the AUC score measures the </a:t>
            </a:r>
            <a:r>
              <a:rPr lang="en-US" dirty="0"/>
              <a:t>model’s performance, the ability to differentiate between classes, </a:t>
            </a:r>
            <a:r>
              <a:rPr lang="en-US" dirty="0" err="1"/>
              <a:t>ie</a:t>
            </a:r>
            <a:r>
              <a:rPr lang="en-US" dirty="0"/>
              <a:t>: reservations being cancelled or not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ML models, different parameter configurations may produce different accuracies.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Therefore, the AUC score provides an overall model score.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You can kind of look at this as the parameter “agnostic” score, with some exceptions.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Another important metric to look at is the f1-score </a:t>
            </a:r>
            <a:endParaRPr lang="en-US" sz="12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&lt;CLICK&gt;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F1 score </a:t>
            </a:r>
            <a:r>
              <a:rPr lang="en-US" sz="12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is the balance between Precision and Recall and the two generally have a see-saw relationship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To help understand this, lets look at the Logistic Regression model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Precision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reservations the model said were going to cancel, 100% of them actually cancelled (Note this value was rounded).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Recall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Out of all the cancelled reservations, the model was able to correctly identify 87% of them.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1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So, which is more important, Precision or Recall?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What happens with Lower Precision: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incorrectly predict a reservation will cancel, we may end up selling that room again in anticipation of that first guest not showing up.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leads to costs of walking the guest + guest dissatisfaction.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And with Low Recall: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If we miss predicting that a reservation would cancel, we'll have unsold rooms, which will be lost revenue.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Consider this example: There is a hotel that is always selling out and hovers around the ~100% occupancy: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If the hotel knows that the next closest property is 30 miles away or maybe they're a resort in the Maldives and the closets property is on another island...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want to prioritize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(correctly predicting a reservation will cancel), so that they don’t end up overselling their hotel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&lt;CLICK&gt; However, if the hotel in the heart of NYC and there are hundreds of properties near by, they may favor higher </a:t>
            </a:r>
            <a:r>
              <a:rPr lang="en-US" sz="11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recall 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(making sure they catch all cancellations correctly)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They may be willing to risk overselling to maximize revenue and ensure they sell all of their rooms. 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BD421-0B42-5B6E-C77F-58E561BD7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06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200B-3442-3772-25CC-F9FF3862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B0622-793B-569B-0C70-A799F8A6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0A537-F5C2-F35C-E151-720B85D66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Compare top most important features that are most influential in predicting the target variable ‘</a:t>
            </a: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is_canceled</a:t>
            </a: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’</a:t>
            </a:r>
          </a:p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 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most important features:</a:t>
            </a: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arrival_month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Status_year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with most negative importance:</a:t>
            </a:r>
          </a:p>
          <a:p>
            <a:pPr marL="628650" lvl="1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Random Forest: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more important features:</a:t>
            </a: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total_of_special_requests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status_month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543050" lvl="3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Status_dow</a:t>
            </a: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r>
              <a:rPr lang="en-US" sz="11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3 with most negative importance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085850" marR="0" lvl="2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With the Random Forest model, with the highest feature 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-US" sz="1600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total_of_special_requests</a:t>
            </a:r>
            <a:r>
              <a:rPr lang="en-US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`</a:t>
            </a:r>
            <a:r>
              <a:rPr lang="en-US" sz="1600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just over 16% the sum of the first 5 importances is just over 57%, whereas the Logistic Regression model has a highest feature being 22% and the sum of the first 5 importances is over 89%. This means that the logistic regression model indicates that there are fewer features that have a heavier influence in predicting the target variable compared to the random forest model's feature importances are more spread out between more features.</a:t>
            </a:r>
          </a:p>
          <a:p>
            <a:pPr marL="1085850" lvl="2" indent="-171450" rtl="0" fontAlgn="base">
              <a:buFont typeface="Arial" panose="020B0604020202020204" pitchFamily="34" charset="0"/>
              <a:buChar char="•"/>
            </a:pPr>
            <a:endParaRPr lang="en-US" sz="11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82166-C5CB-3447-80CB-45C92B894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1CBD-D301-674F-94E8-EF9AD1ED138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34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7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22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6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4/3/25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54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4/3/25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3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4/3/25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3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4/3/25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4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9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0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4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5" Type="http://schemas.openxmlformats.org/officeDocument/2006/relationships/hyperlink" Target="https://technofaq.org/posts/2018/02/why-canada-needs-to-take-water-management-seriously/" TargetMode="Externa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5" Type="http://schemas.openxmlformats.org/officeDocument/2006/relationships/image" Target="../media/image3.jpeg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Network connection abstract against a white background">
            <a:extLst>
              <a:ext uri="{FF2B5EF4-FFF2-40B4-BE49-F238E27FC236}">
                <a16:creationId xmlns:a16="http://schemas.microsoft.com/office/drawing/2014/main" id="{7A54653F-0DC1-0AE1-9488-9129A1CB01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D1181-ED03-5DE4-E276-CF8BE8115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 algn="ctr"/>
            <a:r>
              <a:rPr lang="en-US" sz="4400" dirty="0"/>
              <a:t>Hotel Demand and Cancellation Forecast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F16-4D1B-9786-E1C7-E4DA810D7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41975" y="5739969"/>
            <a:ext cx="3355309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1900"/>
              <a:t>Brian Lui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2373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90"/>
    </mc:Choice>
    <mc:Fallback xmlns="">
      <p:transition spd="slow" advTm="59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3" name="Rectangle 2082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140FE6-60CB-3CC8-E065-0DB71222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59"/>
            <a:ext cx="5020056" cy="23697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The Hotel Industry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2071" name="Content Placeholder 2070">
            <a:extLst>
              <a:ext uri="{FF2B5EF4-FFF2-40B4-BE49-F238E27FC236}">
                <a16:creationId xmlns:a16="http://schemas.microsoft.com/office/drawing/2014/main" id="{D1758EF3-DD60-783E-FFF2-5C888F6DB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2166" y="3776870"/>
            <a:ext cx="4985339" cy="256913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Hotels have daily limited perishable inventory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Unsold rooms = Lost Revenue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Overselling rooms:</a:t>
            </a:r>
          </a:p>
          <a:p>
            <a:pPr marL="560070" lvl="1" indent="-285750"/>
            <a:r>
              <a:rPr lang="en-US" sz="1600" dirty="0"/>
              <a:t>Pay for a comparable hotel</a:t>
            </a:r>
          </a:p>
          <a:p>
            <a:pPr marL="560070" lvl="1" indent="-285750"/>
            <a:r>
              <a:rPr lang="en-US" sz="1600" dirty="0"/>
              <a:t>Transportation costs</a:t>
            </a:r>
          </a:p>
          <a:p>
            <a:pPr marL="560070" lvl="1" indent="-285750"/>
            <a:r>
              <a:rPr lang="en-US" sz="1600" dirty="0"/>
              <a:t>Damage to reputation and loyalty</a:t>
            </a:r>
          </a:p>
        </p:txBody>
      </p:sp>
      <p:sp>
        <p:nvSpPr>
          <p:cNvPr id="2085" name="Rectangle 2084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 descr="Personalization in Hotel Check-in: Creating a Memorable Arrival for ...">
            <a:extLst>
              <a:ext uri="{FF2B5EF4-FFF2-40B4-BE49-F238E27FC236}">
                <a16:creationId xmlns:a16="http://schemas.microsoft.com/office/drawing/2014/main" id="{EBC29D23-C583-1DBB-1480-CABDE0F65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0619"/>
          <a:stretch/>
        </p:blipFill>
        <p:spPr bwMode="auto">
          <a:xfrm>
            <a:off x="6662166" y="613595"/>
            <a:ext cx="5011957" cy="258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7" name="Rectangle 2086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62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75"/>
    </mc:Choice>
    <mc:Fallback xmlns="">
      <p:transition spd="slow" advTm="677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7" name="Rectangle 1076">
            <a:extLst>
              <a:ext uri="{FF2B5EF4-FFF2-40B4-BE49-F238E27FC236}">
                <a16:creationId xmlns:a16="http://schemas.microsoft.com/office/drawing/2014/main" id="{E2EF6F8F-597F-716E-5B22-76DC90B3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39BB3-2FDD-9B7A-EF62-C8B258B5A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3648456"/>
            <a:ext cx="4645152" cy="2697480"/>
          </a:xfrm>
        </p:spPr>
        <p:txBody>
          <a:bodyPr>
            <a:normAutofit/>
          </a:bodyPr>
          <a:lstStyle/>
          <a:p>
            <a:r>
              <a:rPr lang="en-US"/>
              <a:t>How Machine Learning Can Help</a:t>
            </a:r>
          </a:p>
        </p:txBody>
      </p:sp>
      <p:sp>
        <p:nvSpPr>
          <p:cNvPr id="1079" name="Freeform: Shape 1078">
            <a:extLst>
              <a:ext uri="{FF2B5EF4-FFF2-40B4-BE49-F238E27FC236}">
                <a16:creationId xmlns:a16="http://schemas.microsoft.com/office/drawing/2014/main" id="{2AC934FA-18DC-F7A3-0EA7-05EDF7A3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4" name="Picture 10" descr="Vancouver Marriott Pinnacle Downtown Hotel | Downtown hotels, Hotel ...">
            <a:extLst>
              <a:ext uri="{FF2B5EF4-FFF2-40B4-BE49-F238E27FC236}">
                <a16:creationId xmlns:a16="http://schemas.microsoft.com/office/drawing/2014/main" id="{CD8E045A-DA4D-9624-A7E4-599B1031D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4" r="-1" b="7682"/>
          <a:stretch/>
        </p:blipFill>
        <p:spPr bwMode="auto">
          <a:xfrm>
            <a:off x="517869" y="970927"/>
            <a:ext cx="3520440" cy="236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heraton Maldives Full Moon Resort &amp; Spa - North Malé Atoll | Marriott ...">
            <a:extLst>
              <a:ext uri="{FF2B5EF4-FFF2-40B4-BE49-F238E27FC236}">
                <a16:creationId xmlns:a16="http://schemas.microsoft.com/office/drawing/2014/main" id="{317A77C6-280A-1F30-619A-E1CED9F79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" r="37911" b="2"/>
          <a:stretch/>
        </p:blipFill>
        <p:spPr bwMode="auto">
          <a:xfrm>
            <a:off x="4334256" y="970928"/>
            <a:ext cx="3520440" cy="236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TLANTA AIRPORT MARRIOTT GATEWAY $164 ($̶2̶2̶5̶) - Updated 2023 Prices ...">
            <a:extLst>
              <a:ext uri="{FF2B5EF4-FFF2-40B4-BE49-F238E27FC236}">
                <a16:creationId xmlns:a16="http://schemas.microsoft.com/office/drawing/2014/main" id="{C441C9F7-1022-65A1-838A-66A5CD06A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0"/>
          <a:stretch/>
        </p:blipFill>
        <p:spPr bwMode="auto">
          <a:xfrm>
            <a:off x="8150643" y="970927"/>
            <a:ext cx="3520440" cy="2366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1BA76094-B92D-1549-5AD2-B6FA0363C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112" y="3648456"/>
            <a:ext cx="6199632" cy="269748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anken Grotesk"/>
              </a:rPr>
              <a:t>Metric of Success: Reaching a ”perfect sell”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anken Grotesk"/>
              </a:rPr>
              <a:t>Predicting cancellations to optimize pricing strategies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anken Grotesk"/>
              </a:rPr>
              <a:t>ML Models to solve classification problems:</a:t>
            </a:r>
          </a:p>
          <a:p>
            <a:pPr marL="617220" lvl="1" indent="-342900"/>
            <a:r>
              <a:rPr lang="en-US" dirty="0">
                <a:latin typeface="Hanken Grotesk"/>
              </a:rPr>
              <a:t>Logistic Regression</a:t>
            </a:r>
          </a:p>
          <a:p>
            <a:pPr marL="617220" lvl="1" indent="-342900"/>
            <a:r>
              <a:rPr lang="en-US" dirty="0">
                <a:latin typeface="Hanken Grotesk"/>
              </a:rPr>
              <a:t>Random Forest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154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628"/>
    </mc:Choice>
    <mc:Fallback xmlns="">
      <p:transition spd="slow" advTm="34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43397-F2B6-8F93-F55F-B2D16D5D1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3462236" cy="2947460"/>
          </a:xfrm>
        </p:spPr>
        <p:txBody>
          <a:bodyPr anchor="t">
            <a:normAutofit/>
          </a:bodyPr>
          <a:lstStyle/>
          <a:p>
            <a:r>
              <a:rPr lang="en-US" sz="4800"/>
              <a:t>The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5FAFA-7B18-8120-3904-CD15EE71B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813" y="2625018"/>
            <a:ext cx="3597631" cy="3919844"/>
          </a:xfrm>
        </p:spPr>
        <p:txBody>
          <a:bodyPr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Important Columns: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FF0000"/>
                </a:solidFill>
              </a:rPr>
              <a:t>is_canceled</a:t>
            </a:r>
            <a:endParaRPr lang="en-US" sz="18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Market_segment</a:t>
            </a:r>
            <a:endParaRPr lang="en-US" sz="18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Lead_time</a:t>
            </a:r>
            <a:endParaRPr lang="en-US" sz="18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Customer_type</a:t>
            </a:r>
            <a:endParaRPr lang="en-US" sz="1800" dirty="0"/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Target Class Imbalance Identified: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Total reservations: 119,000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Reservations cancelled: 44,000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pie chart with text on it&#10;&#10;AI-generated content may be incorrect.">
            <a:extLst>
              <a:ext uri="{FF2B5EF4-FFF2-40B4-BE49-F238E27FC236}">
                <a16:creationId xmlns:a16="http://schemas.microsoft.com/office/drawing/2014/main" id="{E6F9A9CF-00ED-E571-DFB9-9952308EF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126" y="508090"/>
            <a:ext cx="6448749" cy="5626534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687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95"/>
    </mc:Choice>
    <mc:Fallback xmlns="">
      <p:transition spd="slow" advTm="17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B445A-FBA2-F5E7-3440-97032C66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197D6-07CA-431C-A137-F0EA79D68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160" y="978408"/>
            <a:ext cx="4745736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Obstacles</a:t>
            </a:r>
          </a:p>
        </p:txBody>
      </p:sp>
      <p:pic>
        <p:nvPicPr>
          <p:cNvPr id="12" name="Picture 11" descr="Water coming out of a hole in the ground&#10;&#10;AI-generated content may be incorrect.">
            <a:extLst>
              <a:ext uri="{FF2B5EF4-FFF2-40B4-BE49-F238E27FC236}">
                <a16:creationId xmlns:a16="http://schemas.microsoft.com/office/drawing/2014/main" id="{C3B5841E-D3EF-8046-AEBD-588A45604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3123" r="21739" b="1"/>
          <a:stretch/>
        </p:blipFill>
        <p:spPr>
          <a:xfrm>
            <a:off x="517868" y="508090"/>
            <a:ext cx="5705856" cy="5846990"/>
          </a:xfrm>
          <a:prstGeom prst="rect">
            <a:avLst/>
          </a:prstGeom>
        </p:spPr>
      </p:pic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6407" y="508090"/>
            <a:ext cx="4660733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F03AC006-3B48-28BB-A33B-CEB5B7C33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5160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Overfitting – Initial models had 100% train accuracy or 100% precision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/>
              <a:t>Through exploration, corrected the target class imbalance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44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45"/>
    </mc:Choice>
    <mc:Fallback xmlns="">
      <p:transition spd="slow" advTm="210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454A3-649D-A9A0-0DC4-F27E9949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7130E-320B-0757-EC40-0211C430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3F53F990-8FA1-9414-018B-13B1337E4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57150"/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0005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27BC3A-C397-AA23-A8F3-11274C5A5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341917"/>
              </p:ext>
            </p:extLst>
          </p:nvPr>
        </p:nvGraphicFramePr>
        <p:xfrm>
          <a:off x="612648" y="2228315"/>
          <a:ext cx="6281928" cy="1803275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018719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013729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1624740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  <a:gridCol w="1624740">
                  <a:extLst>
                    <a:ext uri="{9D8B030D-6E8A-4147-A177-3AD203B41FA5}">
                      <a16:colId xmlns:a16="http://schemas.microsoft.com/office/drawing/2014/main" val="999809081"/>
                    </a:ext>
                  </a:extLst>
                </a:gridCol>
              </a:tblGrid>
              <a:tr h="4789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Train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Overfit Amt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Accuracy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81.91%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88.80%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1.11%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90.90%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87.70%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80.44%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72.26%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8.18%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</a:tbl>
          </a:graphicData>
        </a:graphic>
      </p:graphicFrame>
      <p:sp>
        <p:nvSpPr>
          <p:cNvPr id="9" name="Left Arrow 8">
            <a:extLst>
              <a:ext uri="{FF2B5EF4-FFF2-40B4-BE49-F238E27FC236}">
                <a16:creationId xmlns:a16="http://schemas.microsoft.com/office/drawing/2014/main" id="{A0E19022-408C-6A42-71FC-D288D2609D4E}"/>
              </a:ext>
            </a:extLst>
          </p:cNvPr>
          <p:cNvSpPr/>
          <p:nvPr/>
        </p:nvSpPr>
        <p:spPr>
          <a:xfrm rot="10800000">
            <a:off x="2367570" y="4183402"/>
            <a:ext cx="513675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F806936-2073-8C22-BE20-ECA92A362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582734"/>
              </p:ext>
            </p:extLst>
          </p:nvPr>
        </p:nvGraphicFramePr>
        <p:xfrm>
          <a:off x="612648" y="4814926"/>
          <a:ext cx="6281928" cy="1803275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018719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013729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1624740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  <a:gridCol w="1624740">
                  <a:extLst>
                    <a:ext uri="{9D8B030D-6E8A-4147-A177-3AD203B41FA5}">
                      <a16:colId xmlns:a16="http://schemas.microsoft.com/office/drawing/2014/main" val="999809081"/>
                    </a:ext>
                  </a:extLst>
                </a:gridCol>
              </a:tblGrid>
              <a:tr h="463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Train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Overfit Amt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Accuracy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90.80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84.33%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6.47%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90.10%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4.30%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90.58%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78.18%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12.40%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F996FF-E297-9C61-0E1E-BDD4DCC93962}"/>
              </a:ext>
            </a:extLst>
          </p:cNvPr>
          <p:cNvSpPr txBox="1"/>
          <p:nvPr/>
        </p:nvSpPr>
        <p:spPr>
          <a:xfrm>
            <a:off x="306324" y="4397413"/>
            <a:ext cx="111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XGBoost</a:t>
            </a:r>
            <a:r>
              <a:rPr lang="en-US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ED199-47D4-0A57-2FCB-C77D3EBED0A3}"/>
              </a:ext>
            </a:extLst>
          </p:cNvPr>
          <p:cNvSpPr txBox="1"/>
          <p:nvPr/>
        </p:nvSpPr>
        <p:spPr>
          <a:xfrm>
            <a:off x="306324" y="1858983"/>
            <a:ext cx="182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Random Forest:</a:t>
            </a: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1CC2FC9D-152A-B209-5982-C6FECF5F46F4}"/>
              </a:ext>
            </a:extLst>
          </p:cNvPr>
          <p:cNvSpPr/>
          <p:nvPr/>
        </p:nvSpPr>
        <p:spPr>
          <a:xfrm>
            <a:off x="3986463" y="2043075"/>
            <a:ext cx="962526" cy="4694610"/>
          </a:xfrm>
          <a:prstGeom prst="frame">
            <a:avLst>
              <a:gd name="adj1" fmla="val 53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00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14"/>
    </mc:Choice>
    <mc:Fallback xmlns="">
      <p:transition spd="slow" advTm="14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6" grpId="0" animBg="1"/>
      <p:bldP spid="1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39A52-9974-6C6D-F1DF-7C285F19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246AD-72B4-DE3D-EB8C-EAE3EF36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Interpreting Features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graph with blue and white text&#10;&#10;AI-generated content may be incorrect.">
            <a:extLst>
              <a:ext uri="{FF2B5EF4-FFF2-40B4-BE49-F238E27FC236}">
                <a16:creationId xmlns:a16="http://schemas.microsoft.com/office/drawing/2014/main" id="{F56EC746-296A-0132-8A3E-5FA8AD352F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371704" y="1448488"/>
            <a:ext cx="7293594" cy="4686135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9792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45"/>
    </mc:Choice>
    <mc:Fallback xmlns="">
      <p:transition spd="slow" advTm="2104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9610A-B7BC-8921-FC35-B8FB5A41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E1A561-AC64-8728-0B04-7FF0DF2A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Error Analysis: Lead Time Distribution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diagram of a group of boxes&#10;&#10;AI-generated content may be incorrect.">
            <a:extLst>
              <a:ext uri="{FF2B5EF4-FFF2-40B4-BE49-F238E27FC236}">
                <a16:creationId xmlns:a16="http://schemas.microsoft.com/office/drawing/2014/main" id="{4302D8D7-183E-BD0F-568E-32A40CB54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67" y="2429691"/>
            <a:ext cx="6048358" cy="3916313"/>
          </a:xfrm>
          <a:prstGeom prst="rect">
            <a:avLst/>
          </a:prstGeom>
        </p:spPr>
      </p:pic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3D62833E-A513-15A5-0A72-83ABFCED71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True Positives vs. False Positive </a:t>
            </a:r>
          </a:p>
          <a:p>
            <a:pPr marL="617220" lvl="1" indent="-228600"/>
            <a:r>
              <a:rPr lang="en-US" dirty="0"/>
              <a:t>TP: Mean is above 100 days</a:t>
            </a:r>
          </a:p>
          <a:p>
            <a:pPr marL="617220" lvl="1" indent="-228600"/>
            <a:r>
              <a:rPr lang="en-US" dirty="0"/>
              <a:t>FP: Mean is below 100 days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379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45"/>
    </mc:Choice>
    <mc:Fallback xmlns="">
      <p:transition spd="slow" advTm="2104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D16C4DE-5FF1-8D34-BBA1-FC43F3155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0B-C332-6ED7-BAD3-07BD9CC3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800600" cy="169164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B6914053-73D7-E377-E88C-94E35AAD4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3D4D8-B572-61D4-3027-88CCC841C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3016" y="1060704"/>
            <a:ext cx="5824728" cy="162763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Explore additional Feature Engineering to address errors</a:t>
            </a:r>
          </a:p>
          <a:p>
            <a:pPr marL="617220" lvl="1" indent="-342900">
              <a:lnSpc>
                <a:spcPct val="100000"/>
              </a:lnSpc>
            </a:pPr>
            <a:r>
              <a:rPr lang="en-US" sz="1100" dirty="0"/>
              <a:t>Binning features like Lead Time</a:t>
            </a:r>
          </a:p>
          <a:p>
            <a:pPr marL="617220" lvl="1" indent="-342900">
              <a:lnSpc>
                <a:spcPct val="100000"/>
              </a:lnSpc>
            </a:pPr>
            <a:r>
              <a:rPr lang="en-US" sz="1100" dirty="0"/>
              <a:t>Removing unnecessary features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Predict daily occupancy</a:t>
            </a:r>
          </a:p>
          <a:p>
            <a:pPr marL="617220" lvl="1" indent="-342900">
              <a:lnSpc>
                <a:spcPct val="100000"/>
              </a:lnSpc>
            </a:pPr>
            <a:r>
              <a:rPr lang="en-US" sz="1100" dirty="0"/>
              <a:t>Explore Time Series Forecasting for Demand</a:t>
            </a:r>
            <a:endParaRPr lang="en-US" sz="1300" dirty="0"/>
          </a:p>
        </p:txBody>
      </p:sp>
      <p:pic>
        <p:nvPicPr>
          <p:cNvPr id="4" name="Picture 12" descr="London Marriott Hotel County Hall Opinioni | Londra Recensioni dell'Hotel">
            <a:extLst>
              <a:ext uri="{FF2B5EF4-FFF2-40B4-BE49-F238E27FC236}">
                <a16:creationId xmlns:a16="http://schemas.microsoft.com/office/drawing/2014/main" id="{02E7AE73-8B65-1F85-807E-60D95FA1E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1" r="1" b="11604"/>
          <a:stretch/>
        </p:blipFill>
        <p:spPr bwMode="auto">
          <a:xfrm>
            <a:off x="517871" y="2921001"/>
            <a:ext cx="11149534" cy="342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352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951"/>
    </mc:Choice>
    <mc:Fallback xmlns="">
      <p:transition spd="slow" advTm="1995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Rectangle 3108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0" name="Rectangle 3109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1" name="Rectangle 3110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2" name="Rectangle 3111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3" name="Rectangle 3112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466A28-3F65-F021-FB9F-DE6830165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114" name="Freeform: Shape 3094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80" name="Picture 8" descr="Portrait of friendly hotel staff | Отели, Спа, Турция">
            <a:extLst>
              <a:ext uri="{FF2B5EF4-FFF2-40B4-BE49-F238E27FC236}">
                <a16:creationId xmlns:a16="http://schemas.microsoft.com/office/drawing/2014/main" id="{928BF364-E3EF-B16A-719C-0DAD31DD6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9154" y="965741"/>
            <a:ext cx="7551931" cy="502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8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05"/>
    </mc:Choice>
    <mc:Fallback xmlns="">
      <p:transition spd="slow" advTm="280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044A-32F5-93E7-AD77-89ACCC4C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34AA-6A37-E300-6FC0-71ED9978E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Comparisons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26CF173B-5B8D-6D7B-BB4D-96CFB3D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 model outperformed Random Forest models in all metrics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Precision: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Walking the guest + guest dissatisfaction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Recall: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More unsold rooms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Hotel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A: Next closest hotel is far away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Precision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to prevent walking guests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Hotel B: Centrally located in a big city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</a:t>
            </a: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</a:rPr>
              <a:t>Recall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 to maximize selling all rooms</a:t>
            </a:r>
          </a:p>
          <a:p>
            <a:pPr marL="57150"/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0005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CA0060-C1F7-1943-D806-F10F4BB6E3F3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2543233"/>
          <a:ext cx="6281929" cy="3614593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74117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2191559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</a:tblGrid>
              <a:tr h="527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Logistic Regression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95.50%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88.90%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95.42%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99.20%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94.70%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70807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f1-score: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93%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01167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5692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87%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31519"/>
                  </a:ext>
                </a:extLst>
              </a:tr>
            </a:tbl>
          </a:graphicData>
        </a:graphic>
      </p:graphicFrame>
      <p:sp>
        <p:nvSpPr>
          <p:cNvPr id="9" name="Left Arrow 8">
            <a:extLst>
              <a:ext uri="{FF2B5EF4-FFF2-40B4-BE49-F238E27FC236}">
                <a16:creationId xmlns:a16="http://schemas.microsoft.com/office/drawing/2014/main" id="{CFB94F66-F061-8F71-E614-A38A7F990EE1}"/>
              </a:ext>
            </a:extLst>
          </p:cNvPr>
          <p:cNvSpPr/>
          <p:nvPr/>
        </p:nvSpPr>
        <p:spPr>
          <a:xfrm rot="10800000">
            <a:off x="49486" y="4995930"/>
            <a:ext cx="513675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BCC2AF55-8231-4881-88D9-90C403A88D56}"/>
              </a:ext>
            </a:extLst>
          </p:cNvPr>
          <p:cNvSpPr/>
          <p:nvPr/>
        </p:nvSpPr>
        <p:spPr>
          <a:xfrm rot="10800000">
            <a:off x="194747" y="5433205"/>
            <a:ext cx="629017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691C49D5-6E00-1043-427D-3DC0E2ED600A}"/>
              </a:ext>
            </a:extLst>
          </p:cNvPr>
          <p:cNvSpPr/>
          <p:nvPr/>
        </p:nvSpPr>
        <p:spPr>
          <a:xfrm rot="10800000">
            <a:off x="209746" y="5870481"/>
            <a:ext cx="629017" cy="23985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18347A3B-2E61-48F3-1A83-D1E1F7F45216}"/>
              </a:ext>
            </a:extLst>
          </p:cNvPr>
          <p:cNvSpPr/>
          <p:nvPr/>
        </p:nvSpPr>
        <p:spPr>
          <a:xfrm>
            <a:off x="2836506" y="3554963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DF0A98EC-ADD0-261D-7150-13E385931E76}"/>
              </a:ext>
            </a:extLst>
          </p:cNvPr>
          <p:cNvSpPr/>
          <p:nvPr/>
        </p:nvSpPr>
        <p:spPr>
          <a:xfrm>
            <a:off x="2836506" y="4436516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6E2AA8F2-631A-6DE8-A267-A568BFA72209}"/>
              </a:ext>
            </a:extLst>
          </p:cNvPr>
          <p:cNvSpPr/>
          <p:nvPr/>
        </p:nvSpPr>
        <p:spPr>
          <a:xfrm>
            <a:off x="2836507" y="5235785"/>
            <a:ext cx="994348" cy="922040"/>
          </a:xfrm>
          <a:prstGeom prst="frame">
            <a:avLst>
              <a:gd name="adj1" fmla="val 43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9" name="Picture 2" descr="Sheraton Maldives Full Moon Resort &amp; Spa - North Malé Atoll | Marriott ...">
            <a:extLst>
              <a:ext uri="{FF2B5EF4-FFF2-40B4-BE49-F238E27FC236}">
                <a16:creationId xmlns:a16="http://schemas.microsoft.com/office/drawing/2014/main" id="{BE06E361-2FED-A4AE-C78B-764D6F925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0" r="37911" b="2"/>
          <a:stretch/>
        </p:blipFill>
        <p:spPr bwMode="auto">
          <a:xfrm>
            <a:off x="390486" y="1971130"/>
            <a:ext cx="6595530" cy="443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Vancouver Marriott Pinnacle Downtown Hotel | Downtown hotels, Hotel ...">
            <a:extLst>
              <a:ext uri="{FF2B5EF4-FFF2-40B4-BE49-F238E27FC236}">
                <a16:creationId xmlns:a16="http://schemas.microsoft.com/office/drawing/2014/main" id="{6A932BCE-01CB-E976-2B45-C885B1ECA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44" r="-1" b="7682"/>
          <a:stretch/>
        </p:blipFill>
        <p:spPr bwMode="auto">
          <a:xfrm>
            <a:off x="390485" y="1971129"/>
            <a:ext cx="6595529" cy="4433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388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14"/>
    </mc:Choice>
    <mc:Fallback xmlns="">
      <p:transition spd="slow" advTm="14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EDE73-F702-51A9-C153-D0B1469C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graph showing a line&#10;&#10;AI-generated content may be incorrect.">
            <a:extLst>
              <a:ext uri="{FF2B5EF4-FFF2-40B4-BE49-F238E27FC236}">
                <a16:creationId xmlns:a16="http://schemas.microsoft.com/office/drawing/2014/main" id="{5B165F9D-2C6F-FC35-9C06-84FD0E705F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35" b="1"/>
          <a:stretch/>
        </p:blipFill>
        <p:spPr>
          <a:xfrm>
            <a:off x="0" y="223440"/>
            <a:ext cx="5575177" cy="3064426"/>
          </a:xfrm>
          <a:prstGeom prst="rect">
            <a:avLst/>
          </a:prstGeom>
        </p:spPr>
      </p:pic>
      <p:pic>
        <p:nvPicPr>
          <p:cNvPr id="10" name="Content Placeholder 9" descr="A graph of a graph&#10;&#10;AI-generated content may be incorrect.">
            <a:extLst>
              <a:ext uri="{FF2B5EF4-FFF2-40B4-BE49-F238E27FC236}">
                <a16:creationId xmlns:a16="http://schemas.microsoft.com/office/drawing/2014/main" id="{E63694DC-439B-4100-A227-60BE106105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rcRect l="2898" r="6136" b="1"/>
          <a:stretch/>
        </p:blipFill>
        <p:spPr>
          <a:xfrm>
            <a:off x="116541" y="3570134"/>
            <a:ext cx="5575177" cy="3064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390198-52E9-51BE-E034-65EBAF788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88" y="976160"/>
            <a:ext cx="5230368" cy="1602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Initial EDA:</a:t>
            </a:r>
            <a:br>
              <a:rPr lang="en-US" sz="3100"/>
            </a:br>
            <a:r>
              <a:rPr lang="en-US" sz="3100"/>
              <a:t>Cancellation and Demand over Time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2D8A2490-8074-0B5C-9CEF-EFEC65C47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9088" y="2578608"/>
            <a:ext cx="5387430" cy="376732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/>
            <a:r>
              <a:rPr lang="en-US" sz="2400" dirty="0"/>
              <a:t>Seasonality seen between Demand and Cancellations</a:t>
            </a:r>
          </a:p>
          <a:p>
            <a:pPr marL="560070" lvl="1" indent="-285750"/>
            <a:r>
              <a:rPr lang="en-US" sz="2000" dirty="0">
                <a:solidFill>
                  <a:srgbClr val="2C7E00"/>
                </a:solidFill>
              </a:rPr>
              <a:t>Peaks in October</a:t>
            </a:r>
          </a:p>
          <a:p>
            <a:pPr marL="560070" lvl="1" indent="-285750"/>
            <a:r>
              <a:rPr lang="en-US" sz="2000" dirty="0">
                <a:solidFill>
                  <a:srgbClr val="C00000"/>
                </a:solidFill>
              </a:rPr>
              <a:t>Valleys in January</a:t>
            </a:r>
          </a:p>
          <a:p>
            <a:pPr marL="560070" lvl="1" indent="-285750"/>
            <a:r>
              <a:rPr lang="en-US" sz="2000" dirty="0">
                <a:solidFill>
                  <a:schemeClr val="accent1"/>
                </a:solidFill>
              </a:rPr>
              <a:t>Increases in April</a:t>
            </a:r>
          </a:p>
        </p:txBody>
      </p:sp>
      <p:sp>
        <p:nvSpPr>
          <p:cNvPr id="4" name="Down Arrow 3">
            <a:extLst>
              <a:ext uri="{FF2B5EF4-FFF2-40B4-BE49-F238E27FC236}">
                <a16:creationId xmlns:a16="http://schemas.microsoft.com/office/drawing/2014/main" id="{68C6BE02-E2F4-DD98-BD8F-1EA9AD62F581}"/>
              </a:ext>
            </a:extLst>
          </p:cNvPr>
          <p:cNvSpPr/>
          <p:nvPr/>
        </p:nvSpPr>
        <p:spPr>
          <a:xfrm>
            <a:off x="904774" y="588715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027D4F06-1A7F-E859-A86F-BB71B6BBF961}"/>
              </a:ext>
            </a:extLst>
          </p:cNvPr>
          <p:cNvSpPr/>
          <p:nvPr/>
        </p:nvSpPr>
        <p:spPr>
          <a:xfrm>
            <a:off x="866273" y="3967621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7E6C176B-8A7F-4DE5-57B2-0B22442A6DB2}"/>
              </a:ext>
            </a:extLst>
          </p:cNvPr>
          <p:cNvSpPr/>
          <p:nvPr/>
        </p:nvSpPr>
        <p:spPr>
          <a:xfrm>
            <a:off x="3456260" y="328833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D64DAB0-9851-6F64-0DDB-777DDBA3C368}"/>
              </a:ext>
            </a:extLst>
          </p:cNvPr>
          <p:cNvSpPr/>
          <p:nvPr/>
        </p:nvSpPr>
        <p:spPr>
          <a:xfrm>
            <a:off x="3355195" y="3942508"/>
            <a:ext cx="202131" cy="519764"/>
          </a:xfrm>
          <a:prstGeom prst="downArrow">
            <a:avLst/>
          </a:prstGeom>
          <a:solidFill>
            <a:srgbClr val="60A5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46B1170B-410C-ACF7-84BF-50D30B88EAC8}"/>
              </a:ext>
            </a:extLst>
          </p:cNvPr>
          <p:cNvSpPr/>
          <p:nvPr/>
        </p:nvSpPr>
        <p:spPr>
          <a:xfrm>
            <a:off x="3848822" y="4462272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D097B721-8FF7-9E61-884C-059F2646E20E}"/>
              </a:ext>
            </a:extLst>
          </p:cNvPr>
          <p:cNvSpPr/>
          <p:nvPr/>
        </p:nvSpPr>
        <p:spPr>
          <a:xfrm>
            <a:off x="1480686" y="4722154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68D902F3-B7A2-5AE4-462A-4033B671B3FE}"/>
              </a:ext>
            </a:extLst>
          </p:cNvPr>
          <p:cNvSpPr/>
          <p:nvPr/>
        </p:nvSpPr>
        <p:spPr>
          <a:xfrm>
            <a:off x="1480685" y="1289625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820FBA9C-7B0A-9DC0-DFA4-324AC7EC011A}"/>
              </a:ext>
            </a:extLst>
          </p:cNvPr>
          <p:cNvSpPr/>
          <p:nvPr/>
        </p:nvSpPr>
        <p:spPr>
          <a:xfrm>
            <a:off x="3949887" y="912751"/>
            <a:ext cx="202131" cy="519764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28E49E36-3F36-8DFF-039F-FEE49F644B52}"/>
              </a:ext>
            </a:extLst>
          </p:cNvPr>
          <p:cNvSpPr/>
          <p:nvPr/>
        </p:nvSpPr>
        <p:spPr>
          <a:xfrm>
            <a:off x="2100642" y="4154934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63F5EC26-A36F-F5D6-262E-D0447FD6A36E}"/>
              </a:ext>
            </a:extLst>
          </p:cNvPr>
          <p:cNvSpPr/>
          <p:nvPr/>
        </p:nvSpPr>
        <p:spPr>
          <a:xfrm>
            <a:off x="4460571" y="679755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F36AC979-AA34-FE2E-5E9F-89C11DBAF6E8}"/>
              </a:ext>
            </a:extLst>
          </p:cNvPr>
          <p:cNvSpPr/>
          <p:nvPr/>
        </p:nvSpPr>
        <p:spPr>
          <a:xfrm>
            <a:off x="4456287" y="3967621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4EC06C82-445C-969A-4A7C-42AD84F59C88}"/>
              </a:ext>
            </a:extLst>
          </p:cNvPr>
          <p:cNvSpPr/>
          <p:nvPr/>
        </p:nvSpPr>
        <p:spPr>
          <a:xfrm>
            <a:off x="2101269" y="876701"/>
            <a:ext cx="202131" cy="519764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110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045"/>
    </mc:Choice>
    <mc:Fallback xmlns="">
      <p:transition spd="slow" advTm="21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FBA3A-5A7B-812E-46AB-48DAC545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DE284-D1D0-1795-BFBB-2F1D410AC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1397"/>
            <a:ext cx="3462236" cy="1263724"/>
          </a:xfrm>
        </p:spPr>
        <p:txBody>
          <a:bodyPr anchor="t">
            <a:normAutofit/>
          </a:bodyPr>
          <a:lstStyle/>
          <a:p>
            <a:r>
              <a:rPr lang="en-US" sz="4400" dirty="0"/>
              <a:t>The </a:t>
            </a:r>
            <a:r>
              <a:rPr lang="en-US" sz="4000" dirty="0"/>
              <a:t>Dataset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10248-273B-7BDD-06B7-98B6AEBA0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7" y="2312894"/>
            <a:ext cx="3462236" cy="3893586"/>
          </a:xfrm>
        </p:spPr>
        <p:txBody>
          <a:bodyPr anchor="t">
            <a:normAutofit/>
          </a:bodyPr>
          <a:lstStyle/>
          <a:p>
            <a:r>
              <a:rPr lang="en-US" dirty="0"/>
              <a:t>Important Columns:</a:t>
            </a:r>
          </a:p>
          <a:p>
            <a:pPr marL="342900" indent="-34290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is_canceled</a:t>
            </a:r>
            <a:endParaRPr lang="en-US" dirty="0">
              <a:solidFill>
                <a:srgbClr val="FF0000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dirty="0" err="1"/>
              <a:t>Arrival_date</a:t>
            </a:r>
            <a:r>
              <a:rPr lang="en-US" dirty="0"/>
              <a:t> (year, month, day of month)</a:t>
            </a:r>
          </a:p>
          <a:p>
            <a:pPr marL="342900" indent="-342900">
              <a:buFontTx/>
              <a:buChar char="-"/>
            </a:pPr>
            <a:r>
              <a:rPr lang="en-US" dirty="0" err="1"/>
              <a:t>Market_segment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 err="1"/>
              <a:t>Lead_time</a:t>
            </a:r>
            <a:endParaRPr lang="en-US" dirty="0"/>
          </a:p>
          <a:p>
            <a:pPr marL="342900" indent="-342900">
              <a:buFontTx/>
              <a:buChar char="-"/>
            </a:pPr>
            <a:r>
              <a:rPr lang="en-US" dirty="0" err="1"/>
              <a:t>Customer_type</a:t>
            </a:r>
            <a:endParaRPr lang="en-US" dirty="0"/>
          </a:p>
        </p:txBody>
      </p:sp>
      <p:pic>
        <p:nvPicPr>
          <p:cNvPr id="5" name="Picture 4" descr="A pie chart of a hotel&#10;&#10;AI-generated content may be incorrect.">
            <a:extLst>
              <a:ext uri="{FF2B5EF4-FFF2-40B4-BE49-F238E27FC236}">
                <a16:creationId xmlns:a16="http://schemas.microsoft.com/office/drawing/2014/main" id="{1D696FAB-A0CF-8D06-79EC-4FB0452007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465" y="508090"/>
            <a:ext cx="6086071" cy="5626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3199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95"/>
    </mc:Choice>
    <mc:Fallback xmlns="">
      <p:transition spd="slow" advTm="17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1" name="Content Placeholder 10" descr="A graph showing a line&#10;&#10;AI-generated content may be incorrect.">
            <a:extLst>
              <a:ext uri="{FF2B5EF4-FFF2-40B4-BE49-F238E27FC236}">
                <a16:creationId xmlns:a16="http://schemas.microsoft.com/office/drawing/2014/main" id="{7D200640-CF05-7ABC-3B3B-02E9DB61C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98" b="1"/>
          <a:stretch/>
        </p:blipFill>
        <p:spPr>
          <a:xfrm>
            <a:off x="517864" y="1863633"/>
            <a:ext cx="8687096" cy="4482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0F3791-3AD2-499A-8C67-C3E6FCB5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5" y="976160"/>
            <a:ext cx="8686800" cy="813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Cancellation Percentages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FF72BFE7-9BCF-CE4B-308F-992742556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04665" y="1863632"/>
            <a:ext cx="2565994" cy="44823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High cancellation %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Between 30-40% throughout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Identified large cancelled group bookings during EDA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5" y="508090"/>
            <a:ext cx="811123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94EA6C1-5B73-CB10-F9FB-B671500C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346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31BF2-06C7-6402-716F-67F41326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DE57300-C7FF-4578-99A0-42B0295B1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B8F8250-7A81-4A19-87AD-FFB2CE4E3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9F38FC-2DEA-2647-C409-EF75720C1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CD0D193-B981-FE7D-7D46-D739C7E5B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33F121DD-5DC0-3684-93F3-55D3F7989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65" r="3436"/>
          <a:stretch/>
        </p:blipFill>
        <p:spPr>
          <a:xfrm>
            <a:off x="402667" y="3429000"/>
            <a:ext cx="4998915" cy="2747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8C1475-A002-C15A-596C-8F9200A6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088" y="976160"/>
            <a:ext cx="5230368" cy="10903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3200"/>
              <a:t>Demand and Cancellation by Hotel Type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0AD9F64-BF72-F79E-29E5-C2B88532D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465294"/>
            <a:ext cx="5230368" cy="388064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/>
              <a:t>City Hotel: </a:t>
            </a:r>
          </a:p>
          <a:p>
            <a:pPr marL="560070" lvl="1" indent="-285750"/>
            <a:r>
              <a:rPr lang="en-US" sz="1600"/>
              <a:t>Higher demand and cancellations</a:t>
            </a:r>
          </a:p>
          <a:p>
            <a:pPr marL="560070" lvl="1" indent="-285750"/>
            <a:r>
              <a:rPr lang="en-US" sz="1600"/>
              <a:t>Larger peaks and valleys</a:t>
            </a:r>
          </a:p>
          <a:p>
            <a:pPr marL="560070" lvl="1" indent="-285750"/>
            <a:r>
              <a:rPr lang="en-US" sz="1600"/>
              <a:t>Likely influences the overall datasets trends</a:t>
            </a:r>
          </a:p>
          <a:p>
            <a:pPr marL="285750" indent="-285750"/>
            <a:r>
              <a:rPr lang="en-US" sz="1800"/>
              <a:t>Cancellation Trends:</a:t>
            </a:r>
          </a:p>
          <a:p>
            <a:pPr marL="560070" lvl="1" indent="-285750"/>
            <a:r>
              <a:rPr lang="en-US" sz="1600"/>
              <a:t>City hotels have corporate travelers</a:t>
            </a:r>
          </a:p>
          <a:p>
            <a:pPr marL="560070" lvl="1" indent="-285750"/>
            <a:r>
              <a:rPr lang="en-US" sz="1600"/>
              <a:t>Last minute cancellations and bookings</a:t>
            </a:r>
          </a:p>
          <a:p>
            <a:pPr marL="560070" lvl="1" indent="-285750"/>
            <a:r>
              <a:rPr lang="en-US" sz="1600"/>
              <a:t>Resort hotels have mainly leisure guests</a:t>
            </a:r>
          </a:p>
          <a:p>
            <a:pPr marL="285750" indent="-285750"/>
            <a:endParaRPr lang="en-US" sz="18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4435763-D116-E6B0-3992-6801EF0F0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7376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Content Placeholder 22" descr="A graph of red and blue lines&#10;&#10;AI-generated content may be incorrect.">
            <a:extLst>
              <a:ext uri="{FF2B5EF4-FFF2-40B4-BE49-F238E27FC236}">
                <a16:creationId xmlns:a16="http://schemas.microsoft.com/office/drawing/2014/main" id="{85E60481-22BC-9ABF-C25B-13E4CE81E5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9484" y="0"/>
            <a:ext cx="6257364" cy="3128682"/>
          </a:xfrm>
        </p:spPr>
      </p:pic>
    </p:spTree>
    <p:extLst>
      <p:ext uri="{BB962C8B-B14F-4D97-AF65-F5344CB8AC3E}">
        <p14:creationId xmlns:p14="http://schemas.microsoft.com/office/powerpoint/2010/main" val="272159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350FC-29C2-3D7F-53B9-323057D1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BE147-FE32-F75F-FF53-62A70B21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Customer Type</a:t>
            </a:r>
            <a:endParaRPr lang="en-US" sz="44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9A5012C7-80C8-FA8B-711B-6DDFD4A5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79" y="2052736"/>
            <a:ext cx="5323096" cy="4666494"/>
          </a:xfrm>
          <a:prstGeom prst="rect">
            <a:avLst/>
          </a:prstGeom>
        </p:spPr>
      </p:pic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638AC8C0-AD38-1CC8-F0B8-78FEADC97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Combined Transient and Transient-Party customer types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Removed Group and Contract rows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Group and Contract patterns are very different than Transient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0D701375-C37C-9688-B005-158F61902701}"/>
              </a:ext>
            </a:extLst>
          </p:cNvPr>
          <p:cNvSpPr/>
          <p:nvPr/>
        </p:nvSpPr>
        <p:spPr>
          <a:xfrm>
            <a:off x="2261937" y="5265020"/>
            <a:ext cx="462012" cy="15400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9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39351-8FE4-7E9B-E462-FEF73C6A1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427FDB85-EB25-316C-43EF-D2DDF7878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513644F2-A960-F864-33EC-7905312E3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4C44D-034E-5370-ED72-00E08E4B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 Comparisons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74DB884-5899-7635-4AEE-1E6A97188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5DC9276-BF41-5252-D623-98D254585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5C025BA5-EDF9-DE77-DC42-B8B93688B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07224" y="1088136"/>
            <a:ext cx="4160520" cy="52578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Logistic Regression model outperformed Random Forest models in all metrics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Precision: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Walking the guest + guest dissatisfaction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Low Recall:</a:t>
            </a:r>
          </a:p>
          <a:p>
            <a:pPr marL="560070" lvl="1" indent="-22860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More unsold rooms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Hotel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A: Next closest hotel is far away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Precision to not walk</a:t>
            </a:r>
          </a:p>
          <a:p>
            <a:pPr marL="34290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Hotel B: Centrally located in a big city</a:t>
            </a:r>
          </a:p>
          <a:p>
            <a:pPr marL="617220" lvl="1" indent="-285750"/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Prioritize Recall to maximize selling out</a:t>
            </a:r>
          </a:p>
          <a:p>
            <a:pPr marL="57150"/>
            <a:endParaRPr lang="en-US" sz="1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0005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783835-41DF-9908-0504-AA8A5D965CBF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2543233"/>
          <a:ext cx="6281929" cy="3614593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374117">
                  <a:extLst>
                    <a:ext uri="{9D8B030D-6E8A-4147-A177-3AD203B41FA5}">
                      <a16:colId xmlns:a16="http://schemas.microsoft.com/office/drawing/2014/main" val="2792630484"/>
                    </a:ext>
                  </a:extLst>
                </a:gridCol>
                <a:gridCol w="2716253">
                  <a:extLst>
                    <a:ext uri="{9D8B030D-6E8A-4147-A177-3AD203B41FA5}">
                      <a16:colId xmlns:a16="http://schemas.microsoft.com/office/drawing/2014/main" val="2816371424"/>
                    </a:ext>
                  </a:extLst>
                </a:gridCol>
                <a:gridCol w="2191559">
                  <a:extLst>
                    <a:ext uri="{9D8B030D-6E8A-4147-A177-3AD203B41FA5}">
                      <a16:colId xmlns:a16="http://schemas.microsoft.com/office/drawing/2014/main" val="382949225"/>
                    </a:ext>
                  </a:extLst>
                </a:gridCol>
              </a:tblGrid>
              <a:tr h="5274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Metric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Logistic Regression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300" b="0" i="0" u="sng" strike="noStrike" cap="none" spc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847169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95.50%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88.90%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80544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Score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95.42%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614446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Train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99.30%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95.40%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866690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Test AUC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99.20%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94.70%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070807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l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f1-score: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93%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84%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011675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88%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555692"/>
                  </a:ext>
                </a:extLst>
              </a:tr>
              <a:tr h="441015">
                <a:tc>
                  <a:txBody>
                    <a:bodyPr/>
                    <a:lstStyle/>
                    <a:p>
                      <a:pPr algn="r" fontAlgn="b"/>
                      <a:r>
                        <a:rPr lang="en-US" sz="17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rgbClr val="2C7E00"/>
                          </a:solidFill>
                          <a:effectLst/>
                          <a:latin typeface="+mn-lt"/>
                        </a:rPr>
                        <a:t>87%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79%</a:t>
                      </a:r>
                    </a:p>
                  </a:txBody>
                  <a:tcPr marL="13511" marR="13511" marT="12971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31519"/>
                  </a:ext>
                </a:extLst>
              </a:tr>
            </a:tbl>
          </a:graphicData>
        </a:graphic>
      </p:graphicFrame>
      <p:sp>
        <p:nvSpPr>
          <p:cNvPr id="9" name="Left Arrow 8">
            <a:extLst>
              <a:ext uri="{FF2B5EF4-FFF2-40B4-BE49-F238E27FC236}">
                <a16:creationId xmlns:a16="http://schemas.microsoft.com/office/drawing/2014/main" id="{03A37654-6DC0-75E7-7ED1-93B87126ABF8}"/>
              </a:ext>
            </a:extLst>
          </p:cNvPr>
          <p:cNvSpPr/>
          <p:nvPr/>
        </p:nvSpPr>
        <p:spPr>
          <a:xfrm rot="10800000">
            <a:off x="49486" y="4995930"/>
            <a:ext cx="513675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eft Arrow 11">
            <a:extLst>
              <a:ext uri="{FF2B5EF4-FFF2-40B4-BE49-F238E27FC236}">
                <a16:creationId xmlns:a16="http://schemas.microsoft.com/office/drawing/2014/main" id="{F1519987-6D62-F237-A2EE-7D6F878004FD}"/>
              </a:ext>
            </a:extLst>
          </p:cNvPr>
          <p:cNvSpPr/>
          <p:nvPr/>
        </p:nvSpPr>
        <p:spPr>
          <a:xfrm rot="10800000">
            <a:off x="194747" y="5433205"/>
            <a:ext cx="629017" cy="239855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2DA37C7A-07FE-D682-8CB4-5571A66E717D}"/>
              </a:ext>
            </a:extLst>
          </p:cNvPr>
          <p:cNvSpPr/>
          <p:nvPr/>
        </p:nvSpPr>
        <p:spPr>
          <a:xfrm rot="10800000">
            <a:off x="209746" y="5870481"/>
            <a:ext cx="629017" cy="239854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33873827-3EE1-18C9-7529-BDEB38BA13DB}"/>
              </a:ext>
            </a:extLst>
          </p:cNvPr>
          <p:cNvSpPr/>
          <p:nvPr/>
        </p:nvSpPr>
        <p:spPr>
          <a:xfrm>
            <a:off x="2836506" y="3554963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8DC81BCE-8B4D-65A6-04D6-C2D4321CF36E}"/>
              </a:ext>
            </a:extLst>
          </p:cNvPr>
          <p:cNvSpPr/>
          <p:nvPr/>
        </p:nvSpPr>
        <p:spPr>
          <a:xfrm>
            <a:off x="2836506" y="4436516"/>
            <a:ext cx="3480318" cy="419878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47C7013F-ECB2-F77C-61EB-7ACE4BC6ACF7}"/>
              </a:ext>
            </a:extLst>
          </p:cNvPr>
          <p:cNvSpPr/>
          <p:nvPr/>
        </p:nvSpPr>
        <p:spPr>
          <a:xfrm>
            <a:off x="2836507" y="5235785"/>
            <a:ext cx="994348" cy="922040"/>
          </a:xfrm>
          <a:prstGeom prst="frame">
            <a:avLst>
              <a:gd name="adj1" fmla="val 43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5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14"/>
    </mc:Choice>
    <mc:Fallback xmlns="">
      <p:transition spd="slow" advTm="1414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8EA63-23F4-57DE-87B7-6E0ABD4B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>
            <a:extLst>
              <a:ext uri="{FF2B5EF4-FFF2-40B4-BE49-F238E27FC236}">
                <a16:creationId xmlns:a16="http://schemas.microsoft.com/office/drawing/2014/main" id="{0789A3B1-398A-0AB9-E4A0-17415C23A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6ACAAA2-80D2-A15D-3C87-8FE6D86E6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F618F80-B8F0-E1BC-9C65-95E310482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38C2C536-7B0F-4E63-3504-738B98344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5F591-E64A-E114-3DAC-B646CAC4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5" y="976160"/>
            <a:ext cx="8686800" cy="8130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Important Features</a:t>
            </a:r>
          </a:p>
        </p:txBody>
      </p:sp>
      <p:sp>
        <p:nvSpPr>
          <p:cNvPr id="55" name="Content Placeholder 54">
            <a:extLst>
              <a:ext uri="{FF2B5EF4-FFF2-40B4-BE49-F238E27FC236}">
                <a16:creationId xmlns:a16="http://schemas.microsoft.com/office/drawing/2014/main" id="{3D346ACF-116F-B498-6C38-5607A83F1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41041" y="976160"/>
            <a:ext cx="2229617" cy="53698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DAD9123C-04AE-9370-164A-27A96C60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5" y="508090"/>
            <a:ext cx="811123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28077975-36B2-9BC4-339E-AA6675CA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5EA661C5-24A0-9F36-211A-3FA3B1E66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92" y="1789223"/>
            <a:ext cx="8923173" cy="45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51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2|18|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6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.4|3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4.8|24.6|5.6|28.6|17.2|13.4|35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.4|3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.4|3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5.6|6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4.8|24.6|5.6|28.6|17.2|13.4|35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4.4|3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5|4.8|24.6|5.6|28.6|17.2|13.4|35.4"/>
</p:tagLst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4143</TotalTime>
  <Words>2795</Words>
  <Application>Microsoft Macintosh PowerPoint</Application>
  <PresentationFormat>Widescreen</PresentationFormat>
  <Paragraphs>387</Paragraphs>
  <Slides>18</Slides>
  <Notes>17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Bierstadt</vt:lpstr>
      <vt:lpstr>Hanken Grotesk</vt:lpstr>
      <vt:lpstr>Menlo</vt:lpstr>
      <vt:lpstr>GestaltVTI</vt:lpstr>
      <vt:lpstr>Hotel Demand and Cancellation Forecast</vt:lpstr>
      <vt:lpstr>The Hotel Industry   </vt:lpstr>
      <vt:lpstr>How Machine Learning Can Help</vt:lpstr>
      <vt:lpstr>The Dataset</vt:lpstr>
      <vt:lpstr>Obstacles</vt:lpstr>
      <vt:lpstr>Model Comparisons</vt:lpstr>
      <vt:lpstr>Interpreting Features</vt:lpstr>
      <vt:lpstr>Error Analysis: Lead Time Distribution</vt:lpstr>
      <vt:lpstr>Next Steps</vt:lpstr>
      <vt:lpstr>Thank You</vt:lpstr>
      <vt:lpstr>Model Comparisons</vt:lpstr>
      <vt:lpstr>Initial EDA: Cancellation and Demand over Time</vt:lpstr>
      <vt:lpstr>The Dataset</vt:lpstr>
      <vt:lpstr>Cancellation Percentages</vt:lpstr>
      <vt:lpstr>Demand and Cancellation by Hotel Type</vt:lpstr>
      <vt:lpstr>Customer Type</vt:lpstr>
      <vt:lpstr>Model Comparisons</vt:lpstr>
      <vt:lpstr>Important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Lui</dc:creator>
  <cp:lastModifiedBy>Brian Lui</cp:lastModifiedBy>
  <cp:revision>10</cp:revision>
  <dcterms:created xsi:type="dcterms:W3CDTF">2025-02-27T06:39:56Z</dcterms:created>
  <dcterms:modified xsi:type="dcterms:W3CDTF">2025-04-04T03:23:14Z</dcterms:modified>
</cp:coreProperties>
</file>