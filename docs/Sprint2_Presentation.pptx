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5"/>
  </p:notesMasterIdLst>
  <p:sldIdLst>
    <p:sldId id="256" r:id="rId2"/>
    <p:sldId id="262" r:id="rId3"/>
    <p:sldId id="265" r:id="rId4"/>
    <p:sldId id="257" r:id="rId5"/>
    <p:sldId id="270" r:id="rId6"/>
    <p:sldId id="267" r:id="rId7"/>
    <p:sldId id="260" r:id="rId8"/>
    <p:sldId id="266" r:id="rId9"/>
    <p:sldId id="263" r:id="rId10"/>
    <p:sldId id="259" r:id="rId11"/>
    <p:sldId id="268" r:id="rId12"/>
    <p:sldId id="27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671BDB-F464-0F48-93DD-03054374103C}">
          <p14:sldIdLst>
            <p14:sldId id="256"/>
            <p14:sldId id="262"/>
            <p14:sldId id="265"/>
            <p14:sldId id="257"/>
            <p14:sldId id="270"/>
            <p14:sldId id="267"/>
            <p14:sldId id="260"/>
            <p14:sldId id="266"/>
          </p14:sldIdLst>
        </p14:section>
        <p14:section name="Appendix" id="{CC5CF159-B9AE-8249-86FA-7D0E49288067}">
          <p14:sldIdLst>
            <p14:sldId id="263"/>
            <p14:sldId id="259"/>
            <p14:sldId id="268"/>
            <p14:sldId id="271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500"/>
    <a:srgbClr val="2C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6"/>
    <p:restoredTop sz="86062"/>
  </p:normalViewPr>
  <p:slideViewPr>
    <p:cSldViewPr snapToGrid="0">
      <p:cViewPr varScale="1">
        <p:scale>
          <a:sx n="189" d="100"/>
          <a:sy n="189" d="100"/>
        </p:scale>
        <p:origin x="768" y="168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5" d="100"/>
          <a:sy n="155" d="100"/>
        </p:scale>
        <p:origin x="684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D6AB2-D519-5E47-80FC-107ADA150C1A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21CBD-D301-674F-94E8-EF9AD1ED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2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my capstone project:</a:t>
            </a:r>
          </a:p>
          <a:p>
            <a:r>
              <a:rPr lang="en-US" dirty="0"/>
              <a:t>Hotel Demand and Cancellation Forecast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6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Have you ever wondered how managing a hotel works?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might think they just need to sell as many rooms as possible every day..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 What if they sell too many or what if they don’t sell them all?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That's the challenge hotels 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Consider this…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hotel has limited perishable inventory.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Unlike in other industries such as retail, inventory cannot be carried over the next day to be sold.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Any rooms that are left unsold is lost revenue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Why would they oversell more than they have?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Have you ever booked a hotel, but at some point your plans changed?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Hotels need to account for that, so they sometimes sell more rooms than they have left.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they are just reactive to a cancellation, they risk having unsold rooms left.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But...what if they end the day oversold?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Those oversold guests gets refunded, walked to another hotel, (depending on the hotel’s policy):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have to pay for a “comparable” hotel room, transportation costs, and risk damaging their reputation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a hotel can accurately predict the final number of guests for each day, it allows them to maximize revenue and help operations teams properly staff their hotel.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is part of Revenue Management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817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revenue managers metrics of success consist of 2 things: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Maximizing the total Revenue for each Room (RevPAR). 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Reaching a “perfect sell”.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means not finishing the day with any rooms unsold.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two biggest contributors, room demand and room cancellations.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 that's how machine learning can help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can utilize ML models to predict demand and cancellation based on patterns from historical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Predicting if a reservation would cancel or not, is a binary classification problem that can be solved with simple logistic regression or random forest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Another Machine Learning approach we can use is leveraging time series forecasts for demand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41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my dataset there are 2 hotels, a City and Resort hotel in Portugal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City hotel has over 79,000 reservations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Resort hotel has 40,060 reservations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After my initial look at the dataset, some important columns surfaced, but my main focus was 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Is canceled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Arrival date (year, month, day of month)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24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4C245-C7CA-AB03-0603-700460F7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0B0EF-57B1-28CB-CB02-FFC98616E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201AC-506E-AC88-FEB4-DBCA2EB21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My initial EDA led me to look at: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Weekly Demand(bookings) over time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Weekly Cancellations over time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 could see that seasonality was visible for both Demand and Cancellations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 Peaks in October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 Valleys in January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 Goes back up in April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Only 2 years of data, but this looks like a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3DB4D-26D0-F096-1D41-3B1EC26E6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06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9F0F-5FE3-20D7-10A6-F4BB2D2F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1D861-034D-43DA-DEB6-7FE58F8AC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7AD8E-0D92-D889-7FFA-45C63D0E7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two classification models I’ve run on this dataset were Logistic Regression and Random Forest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The Logistic Regression model outperformed Random Forest in all metrics (see the green)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There are a lot of metrics here, and they’re all important like the Test score and AUC Scores, but I want to focus on a metric that is more important to the business.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That's the f1-score </a:t>
            </a:r>
            <a:endParaRPr lang="en-US" sz="12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F1 score </a:t>
            </a:r>
            <a:r>
              <a:rPr lang="en-US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 the balance between Precision and Recall and the two generally have a see-saw relationship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 help understand this, lets look at the Logistic Regression model numbers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Precision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reservations the model said were going to cancel, 100% of them actually cancelled (Note this value was rounded).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Recall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cancelled reservations, the model was able to correctly identify 87% of them.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So, which is more important, Precision or Recall?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What happens with Lower Precision: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incorrectly predict a reservation will cancel, we may end up selling that room again in anticipation of that first guest not showing up.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leads to costs of walking the guest + guest dissatisfaction.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And with Low Recall: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miss predicting that a reservation would cancel, we'll have unsold rooms, which will be lost revenue.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Consider this example: There is a hotel that is always selling out and hovers around the ~100% occupancy: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If the hotel knows that the next closest property is 30 miles away or maybe they're a resort in the Maldives and the closest property is on another island...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want to prioritize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(correctly predicting a reservation will cancel), so that they don’t end up overselling their hotel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However, if the hotel in the heart of NYC and there are hundreds of properties near by, they may favor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recall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(making sure they catch all cancellations correctly)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be willing to risk overselling to maximize revenue and ensure they sell all of their rooms.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89507-DA7A-9969-9637-D6C38F10B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0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for my next steps: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Explore why my baseline models are getting near 100% precision, this seems a bit suspicious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Conduct further modeling like </a:t>
            </a:r>
            <a:r>
              <a:rPr lang="en-US" dirty="0" err="1"/>
              <a:t>XGBoost</a:t>
            </a:r>
            <a:r>
              <a:rPr lang="en-US" dirty="0"/>
              <a:t> and explore Time Series Forecasting with Demand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And I want to continue to optimize hyperparameters for all models before making a final decision on 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05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Looking at cancellation percentages: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It reaches almost 50%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stays between 30-40% throughout the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This looked high to 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In my EDA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 reservations in the dataset were large group bookings that all cancelled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Because of this, I wondered if I should isolate purely transient bookings to see if results will vary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28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When I dove deeper to look at Demand and Cancellation by Hotel Type, I noticed: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The City Hotel  (Blue Lines)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has higher demand and cancellations compared to the Resort Hotel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has larger peaks and valleys compared resort hotel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The peaks and valleys we saw before, are most likely influenced by the city hotel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The cancellation trends are reasonable because: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City hotels have tend to have higher corporate travelers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Last minute changes to bookings based on needs are frequent, so increased cancellations are expected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This holds true for demand as well, last minute needs to travel generates spikes in demand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Resort hotels target mainly leisure guests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When you’re traveling for vacation, you plan months or even years ahead.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It will take a lot more for you to cancel your travel plans compared to for a business trip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95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D294-5C9C-B212-1E3C-2A91BB41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0A0EA-3BAA-9D28-2D41-0CFE0B52D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94B10-7F18-F8C3-415A-42B0BCF56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During Feature Engineering I combined the two Transient customer types because the only difference was if these customers booked together as a party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Also, since there were very few group and contract in the dataset,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 removed those two customer types.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 my experience in my past roles using revenue management systems, Group and Contract forecasts are very different and much harder to predict compared to transient demand.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Therefore, I decided to focus only on transient customer types for simplicity and clarity.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1901-B2F9-5324-F713-1686914B4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66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FAA5A-12C2-0A70-EFF6-AB78FCB1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409AA-DA32-80E1-F854-3FB0EF9AA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DECE4-A465-D4B3-C5FA-06B115DC7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two classification models I’ve run on this dataset were Logistic Regression and Random Forest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The Logistic Regression model outperformed Random Forest in all metrics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Let's look at Test and AUC scores first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Test Scores are the model’s accuracy in making predictions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While the AUC score measures the </a:t>
            </a:r>
            <a:r>
              <a:rPr lang="en-US" dirty="0"/>
              <a:t>model’s performance, the ability to differentiate between classes, </a:t>
            </a:r>
            <a:r>
              <a:rPr lang="en-US" dirty="0" err="1"/>
              <a:t>ie</a:t>
            </a:r>
            <a:r>
              <a:rPr lang="en-US" dirty="0"/>
              <a:t>: reservations being cancelled or not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With ML models, different parameter configurations may produce different accuracies.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Therefore, the AUC score provides an overall model score.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You can kind of look at this as the parameter “agnostic” score, with some exceptions.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Another important metric to look at is the f1-score </a:t>
            </a:r>
            <a:endParaRPr lang="en-US" sz="12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F1 score </a:t>
            </a:r>
            <a:r>
              <a:rPr lang="en-US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 the balance between Precision and Recall and the two generally have a see-saw relationship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 help understand this, lets look at the Logistic Regression model numbers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Precision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reservations the model said were going to cancel, 100% of them actually cancelled (Note this value was rounded).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Recall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cancelled reservations, the model was able to correctly identify 87% of them.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So, which is more important, Precision or Recall?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What happens with Lower Precision: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incorrectly predict a reservation will cancel, we may end up selling that room again in anticipation of that first guest not showing up.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leads to costs of walking the guest + guest dissatisfaction.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And with Low Recall: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miss predicting that a reservation would cancel, we'll have unsold rooms, which will be lost revenue.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Consider this example: There is a hotel that is always selling out and hovers around the ~100% occupancy: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If the hotel knows that the next closest property is 30 miles away or maybe they're a resort in the Maldives and the closets property is on another island...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want to prioritize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(correctly predicting a reservation will cancel), so that they don’t end up overselling their hotel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However, if the hotel in the heart of NYC and there are hundreds of properties near by, they may favor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recall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(making sure they catch all cancellations correctly)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be willing to risk overselling to maximize revenue and ensure they sell all of their rooms.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BD421-0B42-5B6E-C77F-58E561BD7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06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200B-3442-3772-25CC-F9FF3862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B0622-793B-569B-0C70-A799F8A62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0A537-F5C2-F35C-E151-720B85D66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Compare top most important features that are most influential in predicting the target variable ‘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is_canceled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’</a:t>
            </a:r>
          </a:p>
          <a:p>
            <a:pPr marL="628650" lvl="1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 Regression 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most important features:</a:t>
            </a: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status_month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arrival_month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Status_year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with most negative importance:</a:t>
            </a:r>
          </a:p>
          <a:p>
            <a:pPr marL="628650" lvl="1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 Forest: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more important features:</a:t>
            </a: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total_of_special_requests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status_month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Status_dow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with most negative importance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085850" marR="0" lvl="2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With the Random Forest model, with the highest feature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total_of_special_requests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just over 16% the sum of the first 5 importances is just over 57%, whereas the Logistic Regression model has a highest feature being 22% and the sum of the first 5 importances is over 89%. This means that the logistic regression model indicates that there are fewer features that have a heavier influence in predicting the target variable compared to the random forest model's feature importances are more spread out between more features.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82166-C5CB-3447-80CB-45C92B894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13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7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2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6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3/23/25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4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3/23/25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3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3/23/25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3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4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9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0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4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5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Network connection abstract against a white background">
            <a:extLst>
              <a:ext uri="{FF2B5EF4-FFF2-40B4-BE49-F238E27FC236}">
                <a16:creationId xmlns:a16="http://schemas.microsoft.com/office/drawing/2014/main" id="{7A54653F-0DC1-0AE1-9488-9129A1CB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D1181-ED03-5DE4-E276-CF8BE8115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ctr"/>
            <a:r>
              <a:rPr lang="en-US" sz="4400" dirty="0"/>
              <a:t>Hotel Demand and Cancellation Forecast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F16-4D1B-9786-E1C7-E4DA810D7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1900"/>
              <a:t>Brian Lui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23732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90"/>
    </mc:Choice>
    <mc:Fallback>
      <p:transition spd="slow" advTm="59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3" name="Rectangle 2082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40FE6-60CB-3CC8-E065-0DB71222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59"/>
            <a:ext cx="5020056" cy="23697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The Hotel Industry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2071" name="Content Placeholder 2070">
            <a:extLst>
              <a:ext uri="{FF2B5EF4-FFF2-40B4-BE49-F238E27FC236}">
                <a16:creationId xmlns:a16="http://schemas.microsoft.com/office/drawing/2014/main" id="{D1758EF3-DD60-783E-FFF2-5C888F6DB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66" y="3776870"/>
            <a:ext cx="4985339" cy="25691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Hotels have daily limited perishable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Unsold rooms = Lost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Overselling rooms:</a:t>
            </a:r>
          </a:p>
          <a:p>
            <a:pPr marL="560070" lvl="1" indent="-285750"/>
            <a:r>
              <a:rPr lang="en-US" sz="1600" dirty="0"/>
              <a:t>Pay for a comparable hotel</a:t>
            </a:r>
          </a:p>
          <a:p>
            <a:pPr marL="560070" lvl="1" indent="-285750"/>
            <a:r>
              <a:rPr lang="en-US" sz="1600" dirty="0"/>
              <a:t>Transportation costs</a:t>
            </a:r>
          </a:p>
          <a:p>
            <a:pPr marL="560070" lvl="1" indent="-285750"/>
            <a:r>
              <a:rPr lang="en-US" sz="1600" dirty="0"/>
              <a:t>Damage to reputation and loyalty</a:t>
            </a:r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2" name="Picture 4" descr="Hotel Housekeeping – USALFH Corp.">
            <a:extLst>
              <a:ext uri="{FF2B5EF4-FFF2-40B4-BE49-F238E27FC236}">
                <a16:creationId xmlns:a16="http://schemas.microsoft.com/office/drawing/2014/main" id="{02D6E1CA-8139-24C7-E950-CEA3EF3F1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689" y="3345872"/>
            <a:ext cx="5572411" cy="247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ersonalization in Hotel Check-in: Creating a Memorable Arrival for ...">
            <a:extLst>
              <a:ext uri="{FF2B5EF4-FFF2-40B4-BE49-F238E27FC236}">
                <a16:creationId xmlns:a16="http://schemas.microsoft.com/office/drawing/2014/main" id="{EBC29D23-C583-1DBB-1480-CABDE0F6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0619"/>
          <a:stretch/>
        </p:blipFill>
        <p:spPr bwMode="auto">
          <a:xfrm>
            <a:off x="6662166" y="613595"/>
            <a:ext cx="5011957" cy="258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7" name="Rectangle 2086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627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775"/>
    </mc:Choice>
    <mc:Fallback>
      <p:transition spd="slow" advTm="677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7" name="Rectangle 1076">
            <a:extLst>
              <a:ext uri="{FF2B5EF4-FFF2-40B4-BE49-F238E27FC236}">
                <a16:creationId xmlns:a16="http://schemas.microsoft.com/office/drawing/2014/main" id="{E2EF6F8F-597F-716E-5B22-76DC90B3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39BB3-2FDD-9B7A-EF62-C8B258B5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3648456"/>
            <a:ext cx="4645152" cy="2697480"/>
          </a:xfrm>
        </p:spPr>
        <p:txBody>
          <a:bodyPr>
            <a:normAutofit/>
          </a:bodyPr>
          <a:lstStyle/>
          <a:p>
            <a:r>
              <a:rPr lang="en-US"/>
              <a:t>How Machine Learning Can Help</a:t>
            </a:r>
          </a:p>
        </p:txBody>
      </p:sp>
      <p:sp>
        <p:nvSpPr>
          <p:cNvPr id="1079" name="Freeform: Shape 1078">
            <a:extLst>
              <a:ext uri="{FF2B5EF4-FFF2-40B4-BE49-F238E27FC236}">
                <a16:creationId xmlns:a16="http://schemas.microsoft.com/office/drawing/2014/main" id="{2AC934FA-18DC-F7A3-0EA7-05EDF7A3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4" name="Picture 10" descr="Vancouver Marriott Pinnacle Downtown Hotel | Downtown hotels, Hotel ...">
            <a:extLst>
              <a:ext uri="{FF2B5EF4-FFF2-40B4-BE49-F238E27FC236}">
                <a16:creationId xmlns:a16="http://schemas.microsoft.com/office/drawing/2014/main" id="{CD8E045A-DA4D-9624-A7E4-599B1031D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4" r="-1" b="7682"/>
          <a:stretch/>
        </p:blipFill>
        <p:spPr bwMode="auto">
          <a:xfrm>
            <a:off x="517869" y="970927"/>
            <a:ext cx="3520440" cy="236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eraton Maldives Full Moon Resort &amp; Spa - North Malé Atoll | Marriott ...">
            <a:extLst>
              <a:ext uri="{FF2B5EF4-FFF2-40B4-BE49-F238E27FC236}">
                <a16:creationId xmlns:a16="http://schemas.microsoft.com/office/drawing/2014/main" id="{317A77C6-280A-1F30-619A-E1CED9F79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" r="37911" b="2"/>
          <a:stretch/>
        </p:blipFill>
        <p:spPr bwMode="auto">
          <a:xfrm>
            <a:off x="4334256" y="970928"/>
            <a:ext cx="3520440" cy="236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TLANTA AIRPORT MARRIOTT GATEWAY $164 ($̶2̶2̶5̶) - Updated 2023 Prices ...">
            <a:extLst>
              <a:ext uri="{FF2B5EF4-FFF2-40B4-BE49-F238E27FC236}">
                <a16:creationId xmlns:a16="http://schemas.microsoft.com/office/drawing/2014/main" id="{C441C9F7-1022-65A1-838A-66A5CD06A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"/>
          <a:stretch/>
        </p:blipFill>
        <p:spPr bwMode="auto">
          <a:xfrm>
            <a:off x="8150643" y="970927"/>
            <a:ext cx="3520440" cy="236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1BA76094-B92D-1549-5AD2-B6FA0363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112" y="3648456"/>
            <a:ext cx="6199632" cy="2697480"/>
          </a:xfrm>
        </p:spPr>
        <p:txBody>
          <a:bodyPr>
            <a:normAutofit/>
          </a:bodyPr>
          <a:lstStyle/>
          <a:p>
            <a:r>
              <a:rPr lang="en-US">
                <a:latin typeface="Hanken Grotesk"/>
              </a:rPr>
              <a:t>Metrics of Success:</a:t>
            </a:r>
          </a:p>
          <a:p>
            <a:pPr marL="560070" lvl="1" indent="-285750"/>
            <a:r>
              <a:rPr lang="en-US">
                <a:latin typeface="Hanken Grotesk"/>
              </a:rPr>
              <a:t>Maximize Revenue Per Available Room (RevPAR)</a:t>
            </a:r>
          </a:p>
          <a:p>
            <a:pPr marL="560070" lvl="1" indent="-285750"/>
            <a:r>
              <a:rPr lang="en-US">
                <a:latin typeface="Hanken Grotesk"/>
              </a:rPr>
              <a:t>Reaching a ”perfect sell”</a:t>
            </a:r>
          </a:p>
          <a:p>
            <a:r>
              <a:rPr lang="en-US">
                <a:latin typeface="Hanken Grotesk"/>
              </a:rPr>
              <a:t>Predicting demand and cancellations to optimize pricing strategies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154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628"/>
    </mc:Choice>
    <mc:Fallback>
      <p:transition spd="slow" advTm="346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43397-F2B6-8F93-F55F-B2D16D5D1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1397"/>
            <a:ext cx="3462236" cy="1263724"/>
          </a:xfrm>
        </p:spPr>
        <p:txBody>
          <a:bodyPr anchor="t">
            <a:normAutofit/>
          </a:bodyPr>
          <a:lstStyle/>
          <a:p>
            <a:r>
              <a:rPr lang="en-US" sz="4400" dirty="0"/>
              <a:t>The </a:t>
            </a:r>
            <a:r>
              <a:rPr lang="en-US" sz="4000" dirty="0"/>
              <a:t>Dataset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5FAFA-7B18-8120-3904-CD15EE71B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7" y="2312894"/>
            <a:ext cx="3462236" cy="3893586"/>
          </a:xfrm>
        </p:spPr>
        <p:txBody>
          <a:bodyPr anchor="t">
            <a:normAutofit/>
          </a:bodyPr>
          <a:lstStyle/>
          <a:p>
            <a:r>
              <a:rPr lang="en-US" dirty="0"/>
              <a:t>Important Columns:</a:t>
            </a:r>
          </a:p>
          <a:p>
            <a:pPr marL="342900" indent="-34290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is_canceled</a:t>
            </a:r>
            <a:endParaRPr lang="en-US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err="1">
                <a:solidFill>
                  <a:srgbClr val="FF0000"/>
                </a:solidFill>
              </a:rPr>
              <a:t>Arrival_date</a:t>
            </a:r>
            <a:r>
              <a:rPr lang="en-US">
                <a:solidFill>
                  <a:srgbClr val="FF0000"/>
                </a:solidFill>
              </a:rPr>
              <a:t> (year, month, day of month)</a:t>
            </a:r>
          </a:p>
          <a:p>
            <a:pPr marL="342900" indent="-342900">
              <a:buFontTx/>
              <a:buChar char="-"/>
            </a:pPr>
            <a:r>
              <a:rPr lang="en-US" err="1"/>
              <a:t>Market_segment</a:t>
            </a:r>
            <a:endParaRPr lang="en-US"/>
          </a:p>
          <a:p>
            <a:pPr marL="342900" indent="-342900">
              <a:buFontTx/>
              <a:buChar char="-"/>
            </a:pPr>
            <a:r>
              <a:rPr lang="en-US" err="1"/>
              <a:t>Lead_time</a:t>
            </a:r>
            <a:endParaRPr lang="en-US"/>
          </a:p>
          <a:p>
            <a:pPr marL="342900" indent="-342900">
              <a:buFontTx/>
              <a:buChar char="-"/>
            </a:pPr>
            <a:r>
              <a:rPr lang="en-US" err="1"/>
              <a:t>Customer_type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e chart of a hotel&#10;&#10;AI-generated content may be incorrect.">
            <a:extLst>
              <a:ext uri="{FF2B5EF4-FFF2-40B4-BE49-F238E27FC236}">
                <a16:creationId xmlns:a16="http://schemas.microsoft.com/office/drawing/2014/main" id="{79C84253-F145-D964-4104-2D933955E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65" y="508090"/>
            <a:ext cx="6086071" cy="562653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6871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95"/>
    </mc:Choice>
    <mc:Fallback>
      <p:transition spd="slow" advTm="17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B445A-FBA2-F5E7-3440-97032C66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3BE419F-BE85-5AD0-D39B-5EFAF8102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D535C0-2DAF-D7E7-CFC9-D66439328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5031F1-B693-4C78-C4FB-D6EC2F293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FF420BF-BB1C-4DB5-3984-A8052E3AC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graph showing a line&#10;&#10;AI-generated content may be incorrect.">
            <a:extLst>
              <a:ext uri="{FF2B5EF4-FFF2-40B4-BE49-F238E27FC236}">
                <a16:creationId xmlns:a16="http://schemas.microsoft.com/office/drawing/2014/main" id="{44958A86-A2DB-4AEA-B0C3-B8F94FBE4A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035" b="1"/>
          <a:stretch/>
        </p:blipFill>
        <p:spPr>
          <a:xfrm>
            <a:off x="0" y="223440"/>
            <a:ext cx="5575177" cy="3064426"/>
          </a:xfrm>
          <a:prstGeom prst="rect">
            <a:avLst/>
          </a:prstGeom>
        </p:spPr>
      </p:pic>
      <p:pic>
        <p:nvPicPr>
          <p:cNvPr id="10" name="Content Placeholder 9" descr="A graph of a graph&#10;&#10;AI-generated content may be incorrect.">
            <a:extLst>
              <a:ext uri="{FF2B5EF4-FFF2-40B4-BE49-F238E27FC236}">
                <a16:creationId xmlns:a16="http://schemas.microsoft.com/office/drawing/2014/main" id="{02B52621-725E-AAE9-9CC2-0B62895B6C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rcRect l="2898" r="6136" b="1"/>
          <a:stretch/>
        </p:blipFill>
        <p:spPr>
          <a:xfrm>
            <a:off x="116541" y="3570134"/>
            <a:ext cx="5575177" cy="3064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2197D6-07CA-431C-A137-F0EA79D6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088" y="976160"/>
            <a:ext cx="5230368" cy="1602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Initial EDA:</a:t>
            </a:r>
            <a:br>
              <a:rPr lang="en-US" sz="3100"/>
            </a:br>
            <a:r>
              <a:rPr lang="en-US" sz="3100"/>
              <a:t>Cancellation and Demand over Time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F03AC006-3B48-28BB-A33B-CEB5B7C33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9088" y="2578608"/>
            <a:ext cx="538743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/>
            <a:r>
              <a:rPr lang="en-US" sz="2400" dirty="0"/>
              <a:t>Seasonality seen between Demand and Cancellations</a:t>
            </a:r>
          </a:p>
          <a:p>
            <a:pPr marL="560070" lvl="1" indent="-285750"/>
            <a:r>
              <a:rPr lang="en-US" sz="2000" dirty="0">
                <a:solidFill>
                  <a:srgbClr val="2C7E00"/>
                </a:solidFill>
              </a:rPr>
              <a:t>Peaks in October</a:t>
            </a:r>
          </a:p>
          <a:p>
            <a:pPr marL="560070" lvl="1" indent="-285750"/>
            <a:r>
              <a:rPr lang="en-US" sz="2000" dirty="0">
                <a:solidFill>
                  <a:srgbClr val="C00000"/>
                </a:solidFill>
              </a:rPr>
              <a:t>Valleys in January</a:t>
            </a:r>
          </a:p>
          <a:p>
            <a:pPr marL="560070" lvl="1" indent="-285750"/>
            <a:r>
              <a:rPr lang="en-US" sz="2000" dirty="0">
                <a:solidFill>
                  <a:schemeClr val="accent1"/>
                </a:solidFill>
              </a:rPr>
              <a:t>Increases in April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E1792F-97A8-5263-1F14-D4E8997DB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7376" y="508090"/>
            <a:ext cx="5230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35CA519B-8238-0E96-E827-E78F6543F8A2}"/>
              </a:ext>
            </a:extLst>
          </p:cNvPr>
          <p:cNvSpPr/>
          <p:nvPr/>
        </p:nvSpPr>
        <p:spPr>
          <a:xfrm>
            <a:off x="904774" y="588715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9ECB3851-99F7-62D3-5BA6-537DBFF9F149}"/>
              </a:ext>
            </a:extLst>
          </p:cNvPr>
          <p:cNvSpPr/>
          <p:nvPr/>
        </p:nvSpPr>
        <p:spPr>
          <a:xfrm>
            <a:off x="866273" y="3967621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28683EB1-F2A6-EAAA-4F01-CA39AF8CDD4A}"/>
              </a:ext>
            </a:extLst>
          </p:cNvPr>
          <p:cNvSpPr/>
          <p:nvPr/>
        </p:nvSpPr>
        <p:spPr>
          <a:xfrm>
            <a:off x="3456260" y="328833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A5B23AA9-AA84-95D4-47DE-96F3C27AD204}"/>
              </a:ext>
            </a:extLst>
          </p:cNvPr>
          <p:cNvSpPr/>
          <p:nvPr/>
        </p:nvSpPr>
        <p:spPr>
          <a:xfrm>
            <a:off x="3355195" y="3942508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5E3F25E-0807-935E-748E-D99ABAFA998E}"/>
              </a:ext>
            </a:extLst>
          </p:cNvPr>
          <p:cNvSpPr/>
          <p:nvPr/>
        </p:nvSpPr>
        <p:spPr>
          <a:xfrm>
            <a:off x="3848822" y="4462272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79197065-0D65-B0F5-C841-25024B7D0796}"/>
              </a:ext>
            </a:extLst>
          </p:cNvPr>
          <p:cNvSpPr/>
          <p:nvPr/>
        </p:nvSpPr>
        <p:spPr>
          <a:xfrm>
            <a:off x="1480686" y="4722154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A71220D0-93D8-7E4B-7116-0F7A9CE01F00}"/>
              </a:ext>
            </a:extLst>
          </p:cNvPr>
          <p:cNvSpPr/>
          <p:nvPr/>
        </p:nvSpPr>
        <p:spPr>
          <a:xfrm>
            <a:off x="1480685" y="1289625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6FDB8B13-BF0F-DE91-209E-94FAEA2845BC}"/>
              </a:ext>
            </a:extLst>
          </p:cNvPr>
          <p:cNvSpPr/>
          <p:nvPr/>
        </p:nvSpPr>
        <p:spPr>
          <a:xfrm>
            <a:off x="3949887" y="912751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13746C95-831E-1428-111A-A119B471C551}"/>
              </a:ext>
            </a:extLst>
          </p:cNvPr>
          <p:cNvSpPr/>
          <p:nvPr/>
        </p:nvSpPr>
        <p:spPr>
          <a:xfrm>
            <a:off x="2100642" y="4154934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AB964DA2-965C-B1A0-6672-D9323E9F7BE9}"/>
              </a:ext>
            </a:extLst>
          </p:cNvPr>
          <p:cNvSpPr/>
          <p:nvPr/>
        </p:nvSpPr>
        <p:spPr>
          <a:xfrm>
            <a:off x="4460571" y="679755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9F1130D8-FB0F-7B3D-B9A9-C24FE02ADED6}"/>
              </a:ext>
            </a:extLst>
          </p:cNvPr>
          <p:cNvSpPr/>
          <p:nvPr/>
        </p:nvSpPr>
        <p:spPr>
          <a:xfrm>
            <a:off x="4456287" y="3967621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D44463DF-6FC9-850B-22FC-8CF622C58369}"/>
              </a:ext>
            </a:extLst>
          </p:cNvPr>
          <p:cNvSpPr/>
          <p:nvPr/>
        </p:nvSpPr>
        <p:spPr>
          <a:xfrm>
            <a:off x="2101269" y="876701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446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045"/>
    </mc:Choice>
    <mc:Fallback>
      <p:transition spd="slow" advTm="21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 animBg="1"/>
      <p:bldP spid="15" grpId="0" animBg="1"/>
      <p:bldP spid="16" grpId="0" animBg="1"/>
      <p:bldP spid="17" grpId="0" animBg="1"/>
      <p:bldP spid="18" grpId="1" animBg="1"/>
      <p:bldP spid="24" grpId="1" animBg="1"/>
      <p:bldP spid="25" grpId="1" animBg="1"/>
      <p:bldP spid="2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454A3-649D-A9A0-0DC4-F27E9949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7130E-320B-0757-EC40-0211C430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3F53F990-8FA1-9414-018B-13B1337E4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 Regression model outperformed Random Forest models in all metrics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Precision: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Walking the guest + guest dissatisfaction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Recall: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More unsold rooms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Hotel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A: Next closest hotel is far away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Precision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to prevent walking guests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Hotel B: Centrally located in a big city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Recall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to maximize selling all rooms</a:t>
            </a:r>
          </a:p>
          <a:p>
            <a:pPr marL="57150"/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0005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27BC3A-C397-AA23-A8F3-11274C5A5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77275"/>
              </p:ext>
            </p:extLst>
          </p:nvPr>
        </p:nvGraphicFramePr>
        <p:xfrm>
          <a:off x="612648" y="2543233"/>
          <a:ext cx="6281929" cy="3614593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374117">
                  <a:extLst>
                    <a:ext uri="{9D8B030D-6E8A-4147-A177-3AD203B41FA5}">
                      <a16:colId xmlns:a16="http://schemas.microsoft.com/office/drawing/2014/main" val="2792630484"/>
                    </a:ext>
                  </a:extLst>
                </a:gridCol>
                <a:gridCol w="2716253">
                  <a:extLst>
                    <a:ext uri="{9D8B030D-6E8A-4147-A177-3AD203B41FA5}">
                      <a16:colId xmlns:a16="http://schemas.microsoft.com/office/drawing/2014/main" val="2816371424"/>
                    </a:ext>
                  </a:extLst>
                </a:gridCol>
                <a:gridCol w="2191559">
                  <a:extLst>
                    <a:ext uri="{9D8B030D-6E8A-4147-A177-3AD203B41FA5}">
                      <a16:colId xmlns:a16="http://schemas.microsoft.com/office/drawing/2014/main" val="382949225"/>
                    </a:ext>
                  </a:extLst>
                </a:gridCol>
              </a:tblGrid>
              <a:tr h="527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Metric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Logistic Regression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Random Forest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47169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95.50%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88.90%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0544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95.42%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14446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95.40%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66690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99.20%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94.70%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070807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f1-score: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93%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84%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01167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55692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87%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79%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31519"/>
                  </a:ext>
                </a:extLst>
              </a:tr>
            </a:tbl>
          </a:graphicData>
        </a:graphic>
      </p:graphicFrame>
      <p:sp>
        <p:nvSpPr>
          <p:cNvPr id="9" name="Left Arrow 8">
            <a:extLst>
              <a:ext uri="{FF2B5EF4-FFF2-40B4-BE49-F238E27FC236}">
                <a16:creationId xmlns:a16="http://schemas.microsoft.com/office/drawing/2014/main" id="{A0E19022-408C-6A42-71FC-D288D2609D4E}"/>
              </a:ext>
            </a:extLst>
          </p:cNvPr>
          <p:cNvSpPr/>
          <p:nvPr/>
        </p:nvSpPr>
        <p:spPr>
          <a:xfrm rot="10800000">
            <a:off x="49486" y="4995930"/>
            <a:ext cx="513675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EBE9E1C6-157F-F5FB-8387-091AA7192664}"/>
              </a:ext>
            </a:extLst>
          </p:cNvPr>
          <p:cNvSpPr/>
          <p:nvPr/>
        </p:nvSpPr>
        <p:spPr>
          <a:xfrm rot="10800000">
            <a:off x="194747" y="5433205"/>
            <a:ext cx="629017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D891D88E-4203-B8EC-191F-B53F882F46FF}"/>
              </a:ext>
            </a:extLst>
          </p:cNvPr>
          <p:cNvSpPr/>
          <p:nvPr/>
        </p:nvSpPr>
        <p:spPr>
          <a:xfrm rot="10800000">
            <a:off x="209746" y="5870481"/>
            <a:ext cx="629017" cy="239854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99DFD1B3-E756-3FA5-F0E4-E3DEEEBBCC93}"/>
              </a:ext>
            </a:extLst>
          </p:cNvPr>
          <p:cNvSpPr/>
          <p:nvPr/>
        </p:nvSpPr>
        <p:spPr>
          <a:xfrm>
            <a:off x="2836506" y="3554963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1CC2FC9D-152A-B209-5982-C6FECF5F46F4}"/>
              </a:ext>
            </a:extLst>
          </p:cNvPr>
          <p:cNvSpPr/>
          <p:nvPr/>
        </p:nvSpPr>
        <p:spPr>
          <a:xfrm>
            <a:off x="2836506" y="4436516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ECE76D57-715F-CAC4-19A7-646CFA0DC6D3}"/>
              </a:ext>
            </a:extLst>
          </p:cNvPr>
          <p:cNvSpPr/>
          <p:nvPr/>
        </p:nvSpPr>
        <p:spPr>
          <a:xfrm>
            <a:off x="2836507" y="5235785"/>
            <a:ext cx="994348" cy="922040"/>
          </a:xfrm>
          <a:prstGeom prst="frame">
            <a:avLst>
              <a:gd name="adj1" fmla="val 43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9" name="Picture 2" descr="Sheraton Maldives Full Moon Resort &amp; Spa - North Malé Atoll | Marriott ...">
            <a:extLst>
              <a:ext uri="{FF2B5EF4-FFF2-40B4-BE49-F238E27FC236}">
                <a16:creationId xmlns:a16="http://schemas.microsoft.com/office/drawing/2014/main" id="{05C09C0A-AC98-1BAC-D02A-A9CB8F175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" r="37911" b="2"/>
          <a:stretch/>
        </p:blipFill>
        <p:spPr bwMode="auto">
          <a:xfrm>
            <a:off x="390486" y="1971130"/>
            <a:ext cx="6595530" cy="443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Vancouver Marriott Pinnacle Downtown Hotel | Downtown hotels, Hotel ...">
            <a:extLst>
              <a:ext uri="{FF2B5EF4-FFF2-40B4-BE49-F238E27FC236}">
                <a16:creationId xmlns:a16="http://schemas.microsoft.com/office/drawing/2014/main" id="{276AB8B6-B1E1-2E7D-53CF-19BF2330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4" r="-1" b="7682"/>
          <a:stretch/>
        </p:blipFill>
        <p:spPr bwMode="auto">
          <a:xfrm>
            <a:off x="390485" y="1971129"/>
            <a:ext cx="6595529" cy="443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004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414"/>
    </mc:Choice>
    <mc:Fallback>
      <p:transition spd="slow" advTm="1414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uiExpand="1" build="p"/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0B-C332-6ED7-BAD3-07BD9CC3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D4D8-B572-61D4-3027-88CCC841C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60704"/>
            <a:ext cx="5824728" cy="162763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Explore baseline models 100% precision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Further Modeling</a:t>
            </a:r>
          </a:p>
          <a:p>
            <a:pPr marL="617220" lvl="1" indent="-342900">
              <a:lnSpc>
                <a:spcPct val="100000"/>
              </a:lnSpc>
            </a:pPr>
            <a:r>
              <a:rPr lang="en-US" sz="1300" err="1"/>
              <a:t>XGBoost</a:t>
            </a:r>
            <a:r>
              <a:rPr lang="en-US" sz="1300"/>
              <a:t> </a:t>
            </a:r>
          </a:p>
          <a:p>
            <a:pPr marL="617220" lvl="1" indent="-342900">
              <a:lnSpc>
                <a:spcPct val="100000"/>
              </a:lnSpc>
            </a:pPr>
            <a:r>
              <a:rPr lang="en-US" sz="1300"/>
              <a:t>Time Series Forecasting with Demand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/>
              <a:t>Hyperparameter Tuning</a:t>
            </a:r>
          </a:p>
        </p:txBody>
      </p:sp>
      <p:pic>
        <p:nvPicPr>
          <p:cNvPr id="4" name="Picture 12" descr="London Marriott Hotel County Hall Opinioni | Londra Recensioni dell'Hotel">
            <a:extLst>
              <a:ext uri="{FF2B5EF4-FFF2-40B4-BE49-F238E27FC236}">
                <a16:creationId xmlns:a16="http://schemas.microsoft.com/office/drawing/2014/main" id="{02E7AE73-8B65-1F85-807E-60D95FA1E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1" r="1" b="11604"/>
          <a:stretch/>
        </p:blipFill>
        <p:spPr bwMode="auto">
          <a:xfrm>
            <a:off x="517871" y="2921001"/>
            <a:ext cx="11149534" cy="342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3528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951"/>
    </mc:Choice>
    <mc:Fallback>
      <p:transition spd="slow" advTm="199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Rectangle 3108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0" name="Rectangle 3109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1" name="Rectangle 3110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2" name="Rectangle 3111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3" name="Rectangle 31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66A28-3F65-F021-FB9F-DE683016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114" name="Freeform: Shape 309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80" name="Picture 8" descr="Portrait of friendly hotel staff | Отели, Спа, Турция">
            <a:extLst>
              <a:ext uri="{FF2B5EF4-FFF2-40B4-BE49-F238E27FC236}">
                <a16:creationId xmlns:a16="http://schemas.microsoft.com/office/drawing/2014/main" id="{928BF364-E3EF-B16A-719C-0DAD31DD6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9154" y="965741"/>
            <a:ext cx="7551931" cy="502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89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05"/>
    </mc:Choice>
    <mc:Fallback>
      <p:transition spd="slow" advTm="280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1" name="Content Placeholder 10" descr="A graph showing a line&#10;&#10;AI-generated content may be incorrect.">
            <a:extLst>
              <a:ext uri="{FF2B5EF4-FFF2-40B4-BE49-F238E27FC236}">
                <a16:creationId xmlns:a16="http://schemas.microsoft.com/office/drawing/2014/main" id="{7D200640-CF05-7ABC-3B3B-02E9DB61C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98" b="1"/>
          <a:stretch/>
        </p:blipFill>
        <p:spPr>
          <a:xfrm>
            <a:off x="517864" y="1863633"/>
            <a:ext cx="8687096" cy="4482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0F3791-3AD2-499A-8C67-C3E6FCB5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5" y="976160"/>
            <a:ext cx="8686800" cy="8130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Cancellation Percentages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FF72BFE7-9BCF-CE4B-308F-992742556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04665" y="1863632"/>
            <a:ext cx="2565994" cy="44823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High cancellation % overall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Between 30-40% throughout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Identified large cancelled group bookings during EDA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5" y="508090"/>
            <a:ext cx="811123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94EA6C1-5B73-CB10-F9FB-B671500C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34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31BF2-06C7-6402-716F-67F41326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CD0D193-B981-FE7D-7D46-D739C7E5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33F121DD-5DC0-3684-93F3-55D3F7989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65" r="3436"/>
          <a:stretch/>
        </p:blipFill>
        <p:spPr>
          <a:xfrm>
            <a:off x="402667" y="3429000"/>
            <a:ext cx="4998915" cy="27476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8C1475-A002-C15A-596C-8F9200A6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088" y="976160"/>
            <a:ext cx="5230368" cy="10903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/>
              <a:t>Demand and Cancellation by Hotel Type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0AD9F64-BF72-F79E-29E5-C2B88532D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465294"/>
            <a:ext cx="5230368" cy="388064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City Hotel: </a:t>
            </a:r>
          </a:p>
          <a:p>
            <a:pPr marL="560070" lvl="1" indent="-285750"/>
            <a:r>
              <a:rPr lang="en-US" sz="1600"/>
              <a:t>Higher demand and cancellations</a:t>
            </a:r>
          </a:p>
          <a:p>
            <a:pPr marL="560070" lvl="1" indent="-285750"/>
            <a:r>
              <a:rPr lang="en-US" sz="1600"/>
              <a:t>Larger peaks and valleys</a:t>
            </a:r>
          </a:p>
          <a:p>
            <a:pPr marL="560070" lvl="1" indent="-285750"/>
            <a:r>
              <a:rPr lang="en-US" sz="1600"/>
              <a:t>Likely influences the overall datasets trends</a:t>
            </a:r>
          </a:p>
          <a:p>
            <a:pPr marL="285750" indent="-285750"/>
            <a:r>
              <a:rPr lang="en-US" sz="1800"/>
              <a:t>Cancellation Trends:</a:t>
            </a:r>
          </a:p>
          <a:p>
            <a:pPr marL="560070" lvl="1" indent="-285750"/>
            <a:r>
              <a:rPr lang="en-US" sz="1600"/>
              <a:t>City hotels have corporate travelers</a:t>
            </a:r>
          </a:p>
          <a:p>
            <a:pPr marL="560070" lvl="1" indent="-285750"/>
            <a:r>
              <a:rPr lang="en-US" sz="1600"/>
              <a:t>Last minute cancellations and bookings</a:t>
            </a:r>
          </a:p>
          <a:p>
            <a:pPr marL="560070" lvl="1" indent="-285750"/>
            <a:r>
              <a:rPr lang="en-US" sz="1600"/>
              <a:t>Resort hotels have mainly leisure guests</a:t>
            </a:r>
          </a:p>
          <a:p>
            <a:pPr marL="285750" indent="-285750"/>
            <a:endParaRPr lang="en-US" sz="18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435763-D116-E6B0-3992-6801EF0F0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7376" y="508090"/>
            <a:ext cx="5230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Content Placeholder 22" descr="A graph of red and blue lines&#10;&#10;AI-generated content may be incorrect.">
            <a:extLst>
              <a:ext uri="{FF2B5EF4-FFF2-40B4-BE49-F238E27FC236}">
                <a16:creationId xmlns:a16="http://schemas.microsoft.com/office/drawing/2014/main" id="{85E60481-22BC-9ABF-C25B-13E4CE81E5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9484" y="0"/>
            <a:ext cx="6257364" cy="3128682"/>
          </a:xfrm>
        </p:spPr>
      </p:pic>
    </p:spTree>
    <p:extLst>
      <p:ext uri="{BB962C8B-B14F-4D97-AF65-F5344CB8AC3E}">
        <p14:creationId xmlns:p14="http://schemas.microsoft.com/office/powerpoint/2010/main" val="272159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350FC-29C2-3D7F-53B9-323057D1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BE147-FE32-F75F-FF53-62A70B21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Customer Type</a:t>
            </a:r>
            <a:endParaRPr lang="en-US" sz="4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A5012C7-80C8-FA8B-711B-6DDFD4A55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79" y="2052736"/>
            <a:ext cx="5323096" cy="4666494"/>
          </a:xfrm>
          <a:prstGeom prst="rect">
            <a:avLst/>
          </a:prstGeom>
        </p:spPr>
      </p:pic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638AC8C0-AD38-1CC8-F0B8-78FEADC97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Combined Transient and Transient-Party customer types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Removed Group and Contract rows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Group and Contract patterns are very different than Transient</a:t>
            </a:r>
          </a:p>
        </p:txBody>
      </p:sp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0D701375-C37C-9688-B005-158F61902701}"/>
              </a:ext>
            </a:extLst>
          </p:cNvPr>
          <p:cNvSpPr/>
          <p:nvPr/>
        </p:nvSpPr>
        <p:spPr>
          <a:xfrm>
            <a:off x="2261937" y="5265020"/>
            <a:ext cx="462012" cy="15400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9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39351-8FE4-7E9B-E462-FEF73C6A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427FDB85-EB25-316C-43EF-D2DDF7878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513644F2-A960-F864-33EC-7905312E3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4C44D-034E-5370-ED72-00E08E4B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74DB884-5899-7635-4AEE-1E6A97188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5DC9276-BF41-5252-D623-98D254585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5C025BA5-EDF9-DE77-DC42-B8B93688B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 Regression model outperformed Random Forest models in all metrics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Precision: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Walking the guest + guest dissatisfaction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Recall: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More unsold rooms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Hotel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A: Next closest hotel is far away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Precision to not walk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Hotel B: Centrally located in a big city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Recall to maximize selling out</a:t>
            </a:r>
          </a:p>
          <a:p>
            <a:pPr marL="57150"/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0005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783835-41DF-9908-0504-AA8A5D965CBF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2543233"/>
          <a:ext cx="6281929" cy="3614593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374117">
                  <a:extLst>
                    <a:ext uri="{9D8B030D-6E8A-4147-A177-3AD203B41FA5}">
                      <a16:colId xmlns:a16="http://schemas.microsoft.com/office/drawing/2014/main" val="2792630484"/>
                    </a:ext>
                  </a:extLst>
                </a:gridCol>
                <a:gridCol w="2716253">
                  <a:extLst>
                    <a:ext uri="{9D8B030D-6E8A-4147-A177-3AD203B41FA5}">
                      <a16:colId xmlns:a16="http://schemas.microsoft.com/office/drawing/2014/main" val="2816371424"/>
                    </a:ext>
                  </a:extLst>
                </a:gridCol>
                <a:gridCol w="2191559">
                  <a:extLst>
                    <a:ext uri="{9D8B030D-6E8A-4147-A177-3AD203B41FA5}">
                      <a16:colId xmlns:a16="http://schemas.microsoft.com/office/drawing/2014/main" val="382949225"/>
                    </a:ext>
                  </a:extLst>
                </a:gridCol>
              </a:tblGrid>
              <a:tr h="527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Metric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Logistic Regression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Random Forest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47169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95.50%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88.90%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0544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95.42%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14446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95.40%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66690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99.20%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94.70%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070807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f1-score: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93%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84%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01167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55692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87%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79%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31519"/>
                  </a:ext>
                </a:extLst>
              </a:tr>
            </a:tbl>
          </a:graphicData>
        </a:graphic>
      </p:graphicFrame>
      <p:sp>
        <p:nvSpPr>
          <p:cNvPr id="9" name="Left Arrow 8">
            <a:extLst>
              <a:ext uri="{FF2B5EF4-FFF2-40B4-BE49-F238E27FC236}">
                <a16:creationId xmlns:a16="http://schemas.microsoft.com/office/drawing/2014/main" id="{03A37654-6DC0-75E7-7ED1-93B87126ABF8}"/>
              </a:ext>
            </a:extLst>
          </p:cNvPr>
          <p:cNvSpPr/>
          <p:nvPr/>
        </p:nvSpPr>
        <p:spPr>
          <a:xfrm rot="10800000">
            <a:off x="49486" y="4995930"/>
            <a:ext cx="513675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F1519987-6D62-F237-A2EE-7D6F878004FD}"/>
              </a:ext>
            </a:extLst>
          </p:cNvPr>
          <p:cNvSpPr/>
          <p:nvPr/>
        </p:nvSpPr>
        <p:spPr>
          <a:xfrm rot="10800000">
            <a:off x="194747" y="5433205"/>
            <a:ext cx="629017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2DA37C7A-07FE-D682-8CB4-5571A66E717D}"/>
              </a:ext>
            </a:extLst>
          </p:cNvPr>
          <p:cNvSpPr/>
          <p:nvPr/>
        </p:nvSpPr>
        <p:spPr>
          <a:xfrm rot="10800000">
            <a:off x="209746" y="5870481"/>
            <a:ext cx="629017" cy="239854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33873827-3EE1-18C9-7529-BDEB38BA13DB}"/>
              </a:ext>
            </a:extLst>
          </p:cNvPr>
          <p:cNvSpPr/>
          <p:nvPr/>
        </p:nvSpPr>
        <p:spPr>
          <a:xfrm>
            <a:off x="2836506" y="3554963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8DC81BCE-8B4D-65A6-04D6-C2D4321CF36E}"/>
              </a:ext>
            </a:extLst>
          </p:cNvPr>
          <p:cNvSpPr/>
          <p:nvPr/>
        </p:nvSpPr>
        <p:spPr>
          <a:xfrm>
            <a:off x="2836506" y="4436516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47C7013F-ECB2-F77C-61EB-7ACE4BC6ACF7}"/>
              </a:ext>
            </a:extLst>
          </p:cNvPr>
          <p:cNvSpPr/>
          <p:nvPr/>
        </p:nvSpPr>
        <p:spPr>
          <a:xfrm>
            <a:off x="2836507" y="5235785"/>
            <a:ext cx="994348" cy="922040"/>
          </a:xfrm>
          <a:prstGeom prst="frame">
            <a:avLst>
              <a:gd name="adj1" fmla="val 43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752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414"/>
    </mc:Choice>
    <mc:Fallback>
      <p:transition spd="slow" advTm="1414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uiExpand="1" build="p"/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8EA63-23F4-57DE-87B7-6E0ABD4B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0789A3B1-398A-0AB9-E4A0-17415C23A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ACAAA2-80D2-A15D-3C87-8FE6D86E6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F618F80-B8F0-E1BC-9C65-95E310482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38C2C536-7B0F-4E63-3504-738B9834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5F591-E64A-E114-3DAC-B646CAC4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5" y="976160"/>
            <a:ext cx="8686800" cy="8130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Important Features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3D346ACF-116F-B498-6C38-5607A83F1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41041" y="976160"/>
            <a:ext cx="2229617" cy="53698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AD9123C-04AE-9370-164A-27A96C60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5" y="508090"/>
            <a:ext cx="811123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28077975-36B2-9BC4-339E-AA6675CA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5EA661C5-24A0-9F36-211A-3FA3B1E66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92" y="1789223"/>
            <a:ext cx="8923173" cy="453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51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|18|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6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4.4|3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4.8|24.6|5.6|28.6|17.2|13.4|35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5.6|6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4.8|24.6|5.6|28.6|17.2|13.4|35.4"/>
</p:tagLst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3913</TotalTime>
  <Words>2289</Words>
  <Application>Microsoft Macintosh PowerPoint</Application>
  <PresentationFormat>Widescreen</PresentationFormat>
  <Paragraphs>296</Paragraphs>
  <Slides>13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Bierstadt</vt:lpstr>
      <vt:lpstr>Hanken Grotesk</vt:lpstr>
      <vt:lpstr>Menlo</vt:lpstr>
      <vt:lpstr>GestaltVTI</vt:lpstr>
      <vt:lpstr>Hotel Demand and Cancellation Forecast</vt:lpstr>
      <vt:lpstr>The Hotel Industry   </vt:lpstr>
      <vt:lpstr>How Machine Learning Can Help</vt:lpstr>
      <vt:lpstr>The Dataset</vt:lpstr>
      <vt:lpstr>Initial EDA: Cancellation and Demand over Time</vt:lpstr>
      <vt:lpstr>Model Comparisons</vt:lpstr>
      <vt:lpstr>Next Steps</vt:lpstr>
      <vt:lpstr>Thank You</vt:lpstr>
      <vt:lpstr>Cancellation Percentages</vt:lpstr>
      <vt:lpstr>Demand and Cancellation by Hotel Type</vt:lpstr>
      <vt:lpstr>Customer Type</vt:lpstr>
      <vt:lpstr>Model Comparisons</vt:lpstr>
      <vt:lpstr>Important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Lui</dc:creator>
  <cp:lastModifiedBy>Brian Lui</cp:lastModifiedBy>
  <cp:revision>9</cp:revision>
  <dcterms:created xsi:type="dcterms:W3CDTF">2025-02-27T06:39:56Z</dcterms:created>
  <dcterms:modified xsi:type="dcterms:W3CDTF">2025-03-24T19:23:58Z</dcterms:modified>
</cp:coreProperties>
</file>